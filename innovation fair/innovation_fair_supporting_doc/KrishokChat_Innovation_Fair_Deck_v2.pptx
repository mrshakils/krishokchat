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6200" cy="6858000"/>
          </a:xfrm>
          <a:prstGeom prst="rect">
            <a:avLst/>
          </a:prstGeom>
          <a:solidFill>
            <a:srgbClr val="1D4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5333695" cy="6858000"/>
          </a:xfrm>
          <a:prstGeom prst="rect">
            <a:avLst/>
          </a:prstGeom>
          <a:solidFill>
            <a:srgbClr val="F0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097280"/>
            <a:ext cx="5669280" cy="274320"/>
          </a:xfrm>
          <a:prstGeom prst="rect">
            <a:avLst/>
          </a:prstGeom>
          <a:noFill/>
        </p:spPr>
        <p:txBody>
          <a:bodyPr wrap="square" anchor="t" lIns="0" rIns="0" tIns="0" bIns="0">
            <a:spAutoFit/>
          </a:bodyPr>
          <a:lstStyle/>
          <a:p>
            <a:pPr algn="l">
              <a:lnSpc>
                <a:spcPct val="114000"/>
              </a:lnSpc>
              <a:spcBef>
                <a:spcPts val="0"/>
              </a:spcBef>
              <a:spcAft>
                <a:spcPts val="500"/>
              </a:spcAft>
            </a:pPr>
            <a:r>
              <a:rPr sz="1200" b="1">
                <a:solidFill>
                  <a:srgbClr val="466473"/>
                </a:solidFill>
                <a:latin typeface="Segoe UI Semibold"/>
              </a:rPr>
              <a:t>AGRICULTURAL ADVISORY SYSTEM FOR BANGLADESH</a:t>
            </a:r>
          </a:p>
        </p:txBody>
      </p:sp>
      <p:sp>
        <p:nvSpPr>
          <p:cNvPr id="6" name="TextBox 5"/>
          <p:cNvSpPr txBox="1"/>
          <p:nvPr/>
        </p:nvSpPr>
        <p:spPr>
          <a:xfrm>
            <a:off x="749808" y="1499616"/>
            <a:ext cx="6035040" cy="1005840"/>
          </a:xfrm>
          <a:prstGeom prst="rect">
            <a:avLst/>
          </a:prstGeom>
          <a:noFill/>
        </p:spPr>
        <p:txBody>
          <a:bodyPr wrap="square" anchor="t" lIns="0" rIns="0" tIns="0" bIns="0">
            <a:spAutoFit/>
          </a:bodyPr>
          <a:lstStyle/>
          <a:p>
            <a:pPr algn="l">
              <a:lnSpc>
                <a:spcPct val="114000"/>
              </a:lnSpc>
              <a:spcBef>
                <a:spcPts val="0"/>
              </a:spcBef>
              <a:spcAft>
                <a:spcPts val="500"/>
              </a:spcAft>
            </a:pPr>
            <a:r>
              <a:rPr sz="5400" b="1">
                <a:solidFill>
                  <a:srgbClr val="1D4E44"/>
                </a:solidFill>
                <a:latin typeface="Segoe UI Semibold"/>
              </a:rPr>
              <a:t>KrishokChat</a:t>
            </a:r>
          </a:p>
        </p:txBody>
      </p:sp>
      <p:sp>
        <p:nvSpPr>
          <p:cNvPr id="7" name="Rectangle 6"/>
          <p:cNvSpPr/>
          <p:nvPr/>
        </p:nvSpPr>
        <p:spPr>
          <a:xfrm>
            <a:off x="786384" y="2523744"/>
            <a:ext cx="1737360" cy="25400"/>
          </a:xfrm>
          <a:prstGeom prst="rect">
            <a:avLst/>
          </a:prstGeom>
          <a:solidFill>
            <a:srgbClr val="1D4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2761488"/>
            <a:ext cx="5486400" cy="1371600"/>
          </a:xfrm>
          <a:prstGeom prst="rect">
            <a:avLst/>
          </a:prstGeom>
          <a:noFill/>
        </p:spPr>
        <p:txBody>
          <a:bodyPr wrap="square" anchor="t" lIns="0" rIns="0" tIns="0" bIns="0">
            <a:spAutoFit/>
          </a:bodyPr>
          <a:lstStyle/>
          <a:p>
            <a:pPr algn="l">
              <a:lnSpc>
                <a:spcPct val="126000"/>
              </a:lnSpc>
              <a:spcBef>
                <a:spcPts val="0"/>
              </a:spcBef>
              <a:spcAft>
                <a:spcPts val="500"/>
              </a:spcAft>
            </a:pPr>
            <a:r>
              <a:rPr sz="1700" b="0">
                <a:solidFill>
                  <a:srgbClr val="1B2A26"/>
                </a:solidFill>
                <a:latin typeface="Segoe UI Light"/>
              </a:rPr>
              <a:t>A Bengali-first crop advisory that answers from Bangladeshi government sources, verifies every chemical dose before a farmer sees it, and runs on the phone already in his pocket.</a:t>
            </a:r>
          </a:p>
        </p:txBody>
      </p:sp>
      <p:sp>
        <p:nvSpPr>
          <p:cNvPr id="9" name="Rectangle 8"/>
          <p:cNvSpPr/>
          <p:nvPr/>
        </p:nvSpPr>
        <p:spPr>
          <a:xfrm>
            <a:off x="786384" y="4507992"/>
            <a:ext cx="38100" cy="173736"/>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4407408"/>
            <a:ext cx="5029200" cy="347472"/>
          </a:xfrm>
          <a:prstGeom prst="rect">
            <a:avLst/>
          </a:prstGeom>
          <a:noFill/>
        </p:spPr>
        <p:txBody>
          <a:bodyPr wrap="square" anchor="ctr" lIns="0" rIns="0" tIns="0" bIns="0">
            <a:spAutoFit/>
          </a:bodyPr>
          <a:lstStyle/>
          <a:p>
            <a:pPr algn="l">
              <a:lnSpc>
                <a:spcPct val="114000"/>
              </a:lnSpc>
              <a:spcBef>
                <a:spcPts val="0"/>
              </a:spcBef>
              <a:spcAft>
                <a:spcPts val="500"/>
              </a:spcAft>
            </a:pPr>
            <a:r>
              <a:rPr sz="1400" b="1">
                <a:solidFill>
                  <a:srgbClr val="1D4E44"/>
                </a:solidFill>
                <a:latin typeface="Segoe UI Semibold"/>
              </a:rPr>
              <a:t>Working system, tested baseline</a:t>
            </a:r>
          </a:p>
        </p:txBody>
      </p:sp>
      <p:sp>
        <p:nvSpPr>
          <p:cNvPr id="11" name="Rectangle 10"/>
          <p:cNvSpPr/>
          <p:nvPr/>
        </p:nvSpPr>
        <p:spPr>
          <a:xfrm>
            <a:off x="786384" y="4965192"/>
            <a:ext cx="38100" cy="173736"/>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4864608"/>
            <a:ext cx="5029200" cy="347472"/>
          </a:xfrm>
          <a:prstGeom prst="rect">
            <a:avLst/>
          </a:prstGeom>
          <a:noFill/>
        </p:spPr>
        <p:txBody>
          <a:bodyPr wrap="square" anchor="ctr" lIns="0" rIns="0" tIns="0" bIns="0">
            <a:spAutoFit/>
          </a:bodyPr>
          <a:lstStyle/>
          <a:p>
            <a:pPr algn="l">
              <a:lnSpc>
                <a:spcPct val="114000"/>
              </a:lnSpc>
              <a:spcBef>
                <a:spcPts val="0"/>
              </a:spcBef>
              <a:spcAft>
                <a:spcPts val="500"/>
              </a:spcAft>
            </a:pPr>
            <a:r>
              <a:rPr sz="1400" b="1">
                <a:solidFill>
                  <a:srgbClr val="1D4E44"/>
                </a:solidFill>
                <a:latin typeface="Segoe UI Semibold"/>
              </a:rPr>
              <a:t>Grounded in official sources</a:t>
            </a:r>
          </a:p>
        </p:txBody>
      </p:sp>
      <p:sp>
        <p:nvSpPr>
          <p:cNvPr id="13" name="Rectangle 12"/>
          <p:cNvSpPr/>
          <p:nvPr/>
        </p:nvSpPr>
        <p:spPr>
          <a:xfrm>
            <a:off x="786384" y="5422392"/>
            <a:ext cx="38100" cy="173736"/>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5321808"/>
            <a:ext cx="5029200" cy="347472"/>
          </a:xfrm>
          <a:prstGeom prst="rect">
            <a:avLst/>
          </a:prstGeom>
          <a:noFill/>
        </p:spPr>
        <p:txBody>
          <a:bodyPr wrap="square" anchor="ctr" lIns="0" rIns="0" tIns="0" bIns="0">
            <a:spAutoFit/>
          </a:bodyPr>
          <a:lstStyle/>
          <a:p>
            <a:pPr algn="l">
              <a:lnSpc>
                <a:spcPct val="114000"/>
              </a:lnSpc>
              <a:spcBef>
                <a:spcPts val="0"/>
              </a:spcBef>
              <a:spcAft>
                <a:spcPts val="500"/>
              </a:spcAft>
            </a:pPr>
            <a:r>
              <a:rPr sz="1400" b="1">
                <a:solidFill>
                  <a:srgbClr val="1D4E44"/>
                </a:solidFill>
                <a:latin typeface="Segoe UI Semibold"/>
              </a:rPr>
              <a:t>Built for low connectivity</a:t>
            </a:r>
          </a:p>
        </p:txBody>
      </p:sp>
      <p:sp>
        <p:nvSpPr>
          <p:cNvPr id="15" name="TextBox 14"/>
          <p:cNvSpPr txBox="1"/>
          <p:nvPr/>
        </p:nvSpPr>
        <p:spPr>
          <a:xfrm>
            <a:off x="786384" y="5943600"/>
            <a:ext cx="5669280" cy="457200"/>
          </a:xfrm>
          <a:prstGeom prst="rect">
            <a:avLst/>
          </a:prstGeom>
          <a:noFill/>
        </p:spPr>
        <p:txBody>
          <a:bodyPr wrap="square" anchor="t" lIns="0" rIns="0" tIns="0" bIns="0">
            <a:spAutoFit/>
          </a:bodyPr>
          <a:lstStyle/>
          <a:p>
            <a:pPr algn="l">
              <a:lnSpc>
                <a:spcPct val="110000"/>
              </a:lnSpc>
              <a:spcBef>
                <a:spcPts val="0"/>
              </a:spcBef>
              <a:spcAft>
                <a:spcPts val="500"/>
              </a:spcAft>
            </a:pPr>
            <a:r>
              <a:rPr sz="1050" b="0">
                <a:solidFill>
                  <a:srgbClr val="6B736E"/>
                </a:solidFill>
                <a:latin typeface="Segoe UI"/>
              </a:rPr>
              <a:t>Research foundation: arxiv.org/abs/2606.29243  and  arxiv.org/abs/2608.14886</a:t>
            </a:r>
          </a:p>
        </p:txBody>
      </p:sp>
      <p:sp>
        <p:nvSpPr>
          <p:cNvPr id="16" name="TextBox 15"/>
          <p:cNvSpPr txBox="1"/>
          <p:nvPr/>
        </p:nvSpPr>
        <p:spPr>
          <a:xfrm>
            <a:off x="7406640" y="1371600"/>
            <a:ext cx="4023360" cy="292608"/>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THE SITUATION</a:t>
            </a:r>
          </a:p>
        </p:txBody>
      </p:sp>
      <p:sp>
        <p:nvSpPr>
          <p:cNvPr id="17" name="TextBox 16"/>
          <p:cNvSpPr txBox="1"/>
          <p:nvPr/>
        </p:nvSpPr>
        <p:spPr>
          <a:xfrm>
            <a:off x="7406640" y="1773936"/>
            <a:ext cx="4114800" cy="3383280"/>
          </a:xfrm>
          <a:prstGeom prst="rect">
            <a:avLst/>
          </a:prstGeom>
          <a:noFill/>
        </p:spPr>
        <p:txBody>
          <a:bodyPr wrap="square" anchor="t" lIns="0" rIns="0" tIns="0" bIns="0">
            <a:spAutoFit/>
          </a:bodyPr>
          <a:lstStyle/>
          <a:p>
            <a:pPr algn="l">
              <a:lnSpc>
                <a:spcPct val="130000"/>
              </a:lnSpc>
              <a:spcBef>
                <a:spcPts val="0"/>
              </a:spcBef>
              <a:spcAft>
                <a:spcPts val="500"/>
              </a:spcAft>
            </a:pPr>
            <a:r>
              <a:rPr sz="1450" b="0">
                <a:solidFill>
                  <a:srgbClr val="1B2A26"/>
                </a:solidFill>
                <a:latin typeface="Segoe UI"/>
              </a:rPr>
              <a:t>A farmer finds dark spots spreading on his brinjal leaves a week before harvest. He needs to know what it is, what to spray, how much, and whether it is safe.</a:t>
            </a:r>
          </a:p>
          <a:p>
            <a:pPr algn="l">
              <a:lnSpc>
                <a:spcPct val="130000"/>
              </a:lnSpc>
              <a:spcBef>
                <a:spcPts val="0"/>
              </a:spcBef>
              <a:spcAft>
                <a:spcPts val="500"/>
              </a:spcAft>
            </a:pPr>
            <a:r>
              <a:rPr sz="700" b="0">
                <a:solidFill>
                  <a:srgbClr val="1B2A26"/>
                </a:solidFill>
                <a:latin typeface="Segoe UI"/>
              </a:rPr>
              <a:t/>
            </a:r>
          </a:p>
          <a:p>
            <a:pPr algn="l">
              <a:lnSpc>
                <a:spcPct val="130000"/>
              </a:lnSpc>
              <a:spcBef>
                <a:spcPts val="0"/>
              </a:spcBef>
              <a:spcAft>
                <a:spcPts val="500"/>
              </a:spcAft>
            </a:pPr>
            <a:r>
              <a:rPr sz="1450" b="0">
                <a:solidFill>
                  <a:srgbClr val="1B2A26"/>
                </a:solidFill>
                <a:latin typeface="Segoe UI"/>
              </a:rPr>
              <a:t>His options today are a dealer who profits from the sale, a Facebook group where strangers guess, or a general chatbot that never learned Bangladeshi crops or official guidance.</a:t>
            </a:r>
          </a:p>
          <a:p>
            <a:pPr algn="l">
              <a:lnSpc>
                <a:spcPct val="130000"/>
              </a:lnSpc>
              <a:spcBef>
                <a:spcPts val="0"/>
              </a:spcBef>
              <a:spcAft>
                <a:spcPts val="500"/>
              </a:spcAft>
            </a:pPr>
            <a:r>
              <a:rPr sz="700" b="0">
                <a:solidFill>
                  <a:srgbClr val="1B2A26"/>
                </a:solidFill>
                <a:latin typeface="Segoe UI"/>
              </a:rPr>
              <a:t/>
            </a:r>
          </a:p>
          <a:p>
            <a:pPr algn="l">
              <a:lnSpc>
                <a:spcPct val="130000"/>
              </a:lnSpc>
              <a:spcBef>
                <a:spcPts val="0"/>
              </a:spcBef>
              <a:spcAft>
                <a:spcPts val="500"/>
              </a:spcAft>
            </a:pPr>
            <a:r>
              <a:rPr sz="1450" b="1">
                <a:solidFill>
                  <a:srgbClr val="1D4E44"/>
                </a:solidFill>
                <a:latin typeface="Segoe UI"/>
              </a:rPr>
              <a:t>For a smallholder, a confidently wrong answer is a lost harvest or an unsafe chemical sprayed on food and water.</a:t>
            </a:r>
          </a:p>
        </p:txBody>
      </p:sp>
      <p:sp>
        <p:nvSpPr>
          <p:cNvPr id="18" name="Rectangle 17"/>
          <p:cNvSpPr/>
          <p:nvPr/>
        </p:nvSpPr>
        <p:spPr>
          <a:xfrm>
            <a:off x="7424927" y="5321808"/>
            <a:ext cx="4023360" cy="12700"/>
          </a:xfrm>
          <a:prstGeom prst="rect">
            <a:avLst/>
          </a:prstGeom>
          <a:solidFill>
            <a:srgbClr val="D6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5486400"/>
            <a:ext cx="4114800" cy="731520"/>
          </a:xfrm>
          <a:prstGeom prst="rect">
            <a:avLst/>
          </a:prstGeom>
          <a:noFill/>
        </p:spPr>
        <p:txBody>
          <a:bodyPr wrap="square" anchor="t" lIns="0" rIns="0" tIns="0" bIns="0">
            <a:spAutoFit/>
          </a:bodyPr>
          <a:lstStyle/>
          <a:p>
            <a:pPr algn="l">
              <a:lnSpc>
                <a:spcPct val="120000"/>
              </a:lnSpc>
              <a:spcBef>
                <a:spcPts val="0"/>
              </a:spcBef>
              <a:spcAft>
                <a:spcPts val="500"/>
              </a:spcAft>
            </a:pPr>
            <a:r>
              <a:rPr sz="1300" b="1">
                <a:solidFill>
                  <a:srgbClr val="1D4E44"/>
                </a:solidFill>
                <a:latin typeface="Segoe UI Semibold"/>
              </a:rPr>
              <a:t>About 16 million farm households make these decisions with no expert in reach.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7150" cy="6858000"/>
          </a:xfrm>
          <a:prstGeom prst="rect">
            <a:avLst/>
          </a:prstGeom>
          <a:solidFill>
            <a:srgbClr val="1D4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515600" cy="274320"/>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THE PROBLEM</a:t>
            </a:r>
          </a:p>
        </p:txBody>
      </p:sp>
      <p:sp>
        <p:nvSpPr>
          <p:cNvPr id="5" name="TextBox 4"/>
          <p:cNvSpPr txBox="1"/>
          <p:nvPr/>
        </p:nvSpPr>
        <p:spPr>
          <a:xfrm>
            <a:off x="658368" y="658368"/>
            <a:ext cx="10972800" cy="566928"/>
          </a:xfrm>
          <a:prstGeom prst="rect">
            <a:avLst/>
          </a:prstGeom>
          <a:noFill/>
        </p:spPr>
        <p:txBody>
          <a:bodyPr wrap="square" anchor="t" lIns="0" rIns="0" tIns="0" bIns="0">
            <a:spAutoFit/>
          </a:bodyPr>
          <a:lstStyle/>
          <a:p>
            <a:pPr algn="l">
              <a:lnSpc>
                <a:spcPct val="114000"/>
              </a:lnSpc>
              <a:spcBef>
                <a:spcPts val="0"/>
              </a:spcBef>
              <a:spcAft>
                <a:spcPts val="500"/>
              </a:spcAft>
            </a:pPr>
            <a:r>
              <a:rPr sz="2600" b="1">
                <a:solidFill>
                  <a:srgbClr val="1D4E44"/>
                </a:solidFill>
                <a:latin typeface="Segoe UI Semibold"/>
              </a:rPr>
              <a:t>Farmers do not lack questions, they lack a trustworthy answer</a:t>
            </a:r>
          </a:p>
        </p:txBody>
      </p:sp>
      <p:sp>
        <p:nvSpPr>
          <p:cNvPr id="6" name="Rectangle 5"/>
          <p:cNvSpPr/>
          <p:nvPr/>
        </p:nvSpPr>
        <p:spPr>
          <a:xfrm>
            <a:off x="676656" y="1243584"/>
            <a:ext cx="10835640" cy="13970"/>
          </a:xfrm>
          <a:prstGeom prst="rect">
            <a:avLst/>
          </a:prstGeom>
          <a:solidFill>
            <a:srgbClr val="D6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37376"/>
            <a:ext cx="5486400" cy="237744"/>
          </a:xfrm>
          <a:prstGeom prst="rect">
            <a:avLst/>
          </a:prstGeom>
          <a:noFill/>
        </p:spPr>
        <p:txBody>
          <a:bodyPr wrap="square" anchor="t" lIns="0" rIns="0" tIns="0" bIns="0">
            <a:spAutoFit/>
          </a:bodyPr>
          <a:lstStyle/>
          <a:p>
            <a:pPr algn="l">
              <a:lnSpc>
                <a:spcPct val="114000"/>
              </a:lnSpc>
              <a:spcBef>
                <a:spcPts val="0"/>
              </a:spcBef>
              <a:spcAft>
                <a:spcPts val="500"/>
              </a:spcAft>
            </a:pPr>
            <a:r>
              <a:rPr sz="1000" b="1">
                <a:solidFill>
                  <a:srgbClr val="1D4E44"/>
                </a:solidFill>
                <a:latin typeface="Segoe UI Semibold"/>
              </a:rPr>
              <a:t>KrishokChat</a:t>
            </a:r>
            <a:r>
              <a:rPr sz="1000" b="0">
                <a:solidFill>
                  <a:srgbClr val="6B736E"/>
                </a:solidFill>
                <a:latin typeface="Segoe UI"/>
              </a:rPr>
              <a:t>    Innovation Fair Bangladesh</a:t>
            </a:r>
          </a:p>
        </p:txBody>
      </p:sp>
      <p:sp>
        <p:nvSpPr>
          <p:cNvPr id="8" name="TextBox 7"/>
          <p:cNvSpPr txBox="1"/>
          <p:nvPr/>
        </p:nvSpPr>
        <p:spPr>
          <a:xfrm>
            <a:off x="11094415" y="6437376"/>
            <a:ext cx="640080" cy="237744"/>
          </a:xfrm>
          <a:prstGeom prst="rect">
            <a:avLst/>
          </a:prstGeom>
          <a:noFill/>
        </p:spPr>
        <p:txBody>
          <a:bodyPr wrap="square" anchor="t" lIns="0" rIns="0" tIns="0" bIns="0">
            <a:spAutoFit/>
          </a:bodyPr>
          <a:lstStyle/>
          <a:p>
            <a:pPr algn="r">
              <a:lnSpc>
                <a:spcPct val="114000"/>
              </a:lnSpc>
              <a:spcBef>
                <a:spcPts val="0"/>
              </a:spcBef>
              <a:spcAft>
                <a:spcPts val="500"/>
              </a:spcAft>
            </a:pPr>
            <a:r>
              <a:rPr sz="1000" b="0">
                <a:solidFill>
                  <a:srgbClr val="6B736E"/>
                </a:solidFill>
                <a:latin typeface="Segoe UI"/>
              </a:rPr>
              <a:t>2 / 9</a:t>
            </a:r>
          </a:p>
        </p:txBody>
      </p:sp>
      <p:sp>
        <p:nvSpPr>
          <p:cNvPr id="9" name="Rectangle 8"/>
          <p:cNvSpPr/>
          <p:nvPr/>
        </p:nvSpPr>
        <p:spPr>
          <a:xfrm>
            <a:off x="676275" y="1471803"/>
            <a:ext cx="6191250" cy="4133850"/>
          </a:xfrm>
          <a:prstGeom prst="rect">
            <a:avLst/>
          </a:prstGeom>
          <a:noFill/>
          <a:ln w="9525">
            <a:solidFill>
              <a:srgbClr val="D6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roblem_vs_soluion.png"/>
          <p:cNvPicPr>
            <a:picLocks noChangeAspect="1"/>
          </p:cNvPicPr>
          <p:nvPr/>
        </p:nvPicPr>
        <p:blipFill>
          <a:blip r:embed="rId2"/>
          <a:stretch>
            <a:fillRect/>
          </a:stretch>
        </p:blipFill>
        <p:spPr>
          <a:xfrm>
            <a:off x="685800" y="1481328"/>
            <a:ext cx="6172200" cy="4114800"/>
          </a:xfrm>
          <a:prstGeom prst="rect">
            <a:avLst/>
          </a:prstGeom>
        </p:spPr>
      </p:pic>
      <p:sp>
        <p:nvSpPr>
          <p:cNvPr id="11" name="TextBox 10"/>
          <p:cNvSpPr txBox="1"/>
          <p:nvPr/>
        </p:nvSpPr>
        <p:spPr>
          <a:xfrm>
            <a:off x="685800" y="5742432"/>
            <a:ext cx="6309360" cy="365760"/>
          </a:xfrm>
          <a:prstGeom prst="rect">
            <a:avLst/>
          </a:prstGeom>
          <a:noFill/>
        </p:spPr>
        <p:txBody>
          <a:bodyPr wrap="square" anchor="t" lIns="0" rIns="0" tIns="0" bIns="0">
            <a:spAutoFit/>
          </a:bodyPr>
          <a:lstStyle/>
          <a:p>
            <a:pPr algn="l">
              <a:lnSpc>
                <a:spcPct val="112000"/>
              </a:lnSpc>
              <a:spcBef>
                <a:spcPts val="0"/>
              </a:spcBef>
              <a:spcAft>
                <a:spcPts val="500"/>
              </a:spcAft>
            </a:pPr>
            <a:r>
              <a:rPr sz="1050" b="0">
                <a:solidFill>
                  <a:srgbClr val="6B736E"/>
                </a:solidFill>
                <a:latin typeface="Segoe UI"/>
              </a:rPr>
              <a:t>Where advice breaks down today, and what replaces it.</a:t>
            </a:r>
          </a:p>
        </p:txBody>
      </p:sp>
      <p:sp>
        <p:nvSpPr>
          <p:cNvPr id="12" name="TextBox 11"/>
          <p:cNvSpPr txBox="1"/>
          <p:nvPr/>
        </p:nvSpPr>
        <p:spPr>
          <a:xfrm>
            <a:off x="7360920" y="1481328"/>
            <a:ext cx="4160520" cy="292608"/>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WHAT WE BUILT IT AROUND</a:t>
            </a:r>
          </a:p>
        </p:txBody>
      </p:sp>
      <p:sp>
        <p:nvSpPr>
          <p:cNvPr id="13" name="TextBox 12"/>
          <p:cNvSpPr txBox="1"/>
          <p:nvPr/>
        </p:nvSpPr>
        <p:spPr>
          <a:xfrm>
            <a:off x="7360920" y="1865376"/>
            <a:ext cx="4160520" cy="1371600"/>
          </a:xfrm>
          <a:prstGeom prst="rect">
            <a:avLst/>
          </a:prstGeom>
          <a:noFill/>
        </p:spPr>
        <p:txBody>
          <a:bodyPr wrap="square" anchor="t" lIns="0" rIns="0" tIns="0" bIns="0">
            <a:spAutoFit/>
          </a:bodyPr>
          <a:lstStyle/>
          <a:p>
            <a:pPr algn="l">
              <a:lnSpc>
                <a:spcPct val="126000"/>
              </a:lnSpc>
              <a:spcBef>
                <a:spcPts val="0"/>
              </a:spcBef>
              <a:spcAft>
                <a:spcPts val="500"/>
              </a:spcAft>
            </a:pPr>
            <a:r>
              <a:rPr sz="1400" b="0">
                <a:solidFill>
                  <a:srgbClr val="1B2A26"/>
                </a:solidFill>
                <a:latin typeface="Segoe UI"/>
              </a:rPr>
              <a:t>KrishokChat began from field conversations and the questions farmers actually ask: what disease is this, what treatment fits, how much to apply, whether a chemical is even allowed in Bangladesh, and why a crop is failing to grow.</a:t>
            </a:r>
          </a:p>
        </p:txBody>
      </p:sp>
      <p:sp>
        <p:nvSpPr>
          <p:cNvPr id="14" name="Rectangle 13"/>
          <p:cNvSpPr/>
          <p:nvPr/>
        </p:nvSpPr>
        <p:spPr>
          <a:xfrm>
            <a:off x="7360920" y="3355848"/>
            <a:ext cx="38100" cy="192024"/>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62088" y="3310128"/>
            <a:ext cx="3931920" cy="274320"/>
          </a:xfrm>
          <a:prstGeom prst="rect">
            <a:avLst/>
          </a:prstGeom>
          <a:noFill/>
        </p:spPr>
        <p:txBody>
          <a:bodyPr wrap="square" anchor="t" lIns="0" rIns="0" tIns="0" bIns="0">
            <a:spAutoFit/>
          </a:bodyPr>
          <a:lstStyle/>
          <a:p>
            <a:pPr algn="l">
              <a:lnSpc>
                <a:spcPct val="114000"/>
              </a:lnSpc>
              <a:spcBef>
                <a:spcPts val="0"/>
              </a:spcBef>
              <a:spcAft>
                <a:spcPts val="500"/>
              </a:spcAft>
            </a:pPr>
            <a:r>
              <a:rPr sz="1400" b="1">
                <a:solidFill>
                  <a:srgbClr val="1D4E44"/>
                </a:solidFill>
                <a:latin typeface="Segoe UI Semibold"/>
              </a:rPr>
              <a:t>Asked the way farmers speak</a:t>
            </a:r>
          </a:p>
        </p:txBody>
      </p:sp>
      <p:sp>
        <p:nvSpPr>
          <p:cNvPr id="16" name="TextBox 15"/>
          <p:cNvSpPr txBox="1"/>
          <p:nvPr/>
        </p:nvSpPr>
        <p:spPr>
          <a:xfrm>
            <a:off x="7562088" y="3575304"/>
            <a:ext cx="3931920" cy="731520"/>
          </a:xfrm>
          <a:prstGeom prst="rect">
            <a:avLst/>
          </a:prstGeom>
          <a:noFill/>
        </p:spPr>
        <p:txBody>
          <a:bodyPr wrap="square" anchor="t" lIns="0" rIns="0" tIns="0" bIns="0">
            <a:spAutoFit/>
          </a:bodyPr>
          <a:lstStyle/>
          <a:p>
            <a:pPr algn="l">
              <a:lnSpc>
                <a:spcPct val="120000"/>
              </a:lnSpc>
              <a:spcBef>
                <a:spcPts val="0"/>
              </a:spcBef>
              <a:spcAft>
                <a:spcPts val="500"/>
              </a:spcAft>
            </a:pPr>
            <a:r>
              <a:rPr sz="1230" b="0">
                <a:solidFill>
                  <a:srgbClr val="1B2A26"/>
                </a:solidFill>
                <a:latin typeface="Segoe UI"/>
              </a:rPr>
              <a:t>Bengali or Banglish, by text, voice, or a photo of the leaf, with dialect handled rather than corrected.</a:t>
            </a:r>
          </a:p>
        </p:txBody>
      </p:sp>
      <p:sp>
        <p:nvSpPr>
          <p:cNvPr id="17" name="Rectangle 16"/>
          <p:cNvSpPr/>
          <p:nvPr/>
        </p:nvSpPr>
        <p:spPr>
          <a:xfrm>
            <a:off x="7360920" y="4361688"/>
            <a:ext cx="38100" cy="192024"/>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62088" y="4315968"/>
            <a:ext cx="3931920" cy="274320"/>
          </a:xfrm>
          <a:prstGeom prst="rect">
            <a:avLst/>
          </a:prstGeom>
          <a:noFill/>
        </p:spPr>
        <p:txBody>
          <a:bodyPr wrap="square" anchor="t" lIns="0" rIns="0" tIns="0" bIns="0">
            <a:spAutoFit/>
          </a:bodyPr>
          <a:lstStyle/>
          <a:p>
            <a:pPr algn="l">
              <a:lnSpc>
                <a:spcPct val="114000"/>
              </a:lnSpc>
              <a:spcBef>
                <a:spcPts val="0"/>
              </a:spcBef>
              <a:spcAft>
                <a:spcPts val="500"/>
              </a:spcAft>
            </a:pPr>
            <a:r>
              <a:rPr sz="1400" b="1">
                <a:solidFill>
                  <a:srgbClr val="1D4E44"/>
                </a:solidFill>
                <a:latin typeface="Segoe UI Semibold"/>
              </a:rPr>
              <a:t>Answered from named sources</a:t>
            </a:r>
          </a:p>
        </p:txBody>
      </p:sp>
      <p:sp>
        <p:nvSpPr>
          <p:cNvPr id="19" name="TextBox 18"/>
          <p:cNvSpPr txBox="1"/>
          <p:nvPr/>
        </p:nvSpPr>
        <p:spPr>
          <a:xfrm>
            <a:off x="7562088" y="4581144"/>
            <a:ext cx="3931920" cy="731520"/>
          </a:xfrm>
          <a:prstGeom prst="rect">
            <a:avLst/>
          </a:prstGeom>
          <a:noFill/>
        </p:spPr>
        <p:txBody>
          <a:bodyPr wrap="square" anchor="t" lIns="0" rIns="0" tIns="0" bIns="0">
            <a:spAutoFit/>
          </a:bodyPr>
          <a:lstStyle/>
          <a:p>
            <a:pPr algn="l">
              <a:lnSpc>
                <a:spcPct val="120000"/>
              </a:lnSpc>
              <a:spcBef>
                <a:spcPts val="0"/>
              </a:spcBef>
              <a:spcAft>
                <a:spcPts val="500"/>
              </a:spcAft>
            </a:pPr>
            <a:r>
              <a:rPr sz="1230" b="0">
                <a:solidFill>
                  <a:srgbClr val="1B2A26"/>
                </a:solidFill>
                <a:latin typeface="Segoe UI"/>
              </a:rPr>
              <a:t>Guidance is tied to Bangladeshi institutional documents, so the farmer is reading official practice rather than a model's general memory.</a:t>
            </a:r>
          </a:p>
        </p:txBody>
      </p:sp>
      <p:sp>
        <p:nvSpPr>
          <p:cNvPr id="20" name="Rectangle 19"/>
          <p:cNvSpPr/>
          <p:nvPr/>
        </p:nvSpPr>
        <p:spPr>
          <a:xfrm>
            <a:off x="7360920" y="5367528"/>
            <a:ext cx="38100" cy="192024"/>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62088" y="5321808"/>
            <a:ext cx="3931920" cy="274320"/>
          </a:xfrm>
          <a:prstGeom prst="rect">
            <a:avLst/>
          </a:prstGeom>
          <a:noFill/>
        </p:spPr>
        <p:txBody>
          <a:bodyPr wrap="square" anchor="t" lIns="0" rIns="0" tIns="0" bIns="0">
            <a:spAutoFit/>
          </a:bodyPr>
          <a:lstStyle/>
          <a:p>
            <a:pPr algn="l">
              <a:lnSpc>
                <a:spcPct val="114000"/>
              </a:lnSpc>
              <a:spcBef>
                <a:spcPts val="0"/>
              </a:spcBef>
              <a:spcAft>
                <a:spcPts val="500"/>
              </a:spcAft>
            </a:pPr>
            <a:r>
              <a:rPr sz="1400" b="1">
                <a:solidFill>
                  <a:srgbClr val="1D4E44"/>
                </a:solidFill>
                <a:latin typeface="Segoe UI Semibold"/>
              </a:rPr>
              <a:t>Refused honestly when it should be</a:t>
            </a:r>
          </a:p>
        </p:txBody>
      </p:sp>
      <p:sp>
        <p:nvSpPr>
          <p:cNvPr id="22" name="TextBox 21"/>
          <p:cNvSpPr txBox="1"/>
          <p:nvPr/>
        </p:nvSpPr>
        <p:spPr>
          <a:xfrm>
            <a:off x="7562088" y="5586984"/>
            <a:ext cx="3931920" cy="731520"/>
          </a:xfrm>
          <a:prstGeom prst="rect">
            <a:avLst/>
          </a:prstGeom>
          <a:noFill/>
        </p:spPr>
        <p:txBody>
          <a:bodyPr wrap="square" anchor="t" lIns="0" rIns="0" tIns="0" bIns="0">
            <a:spAutoFit/>
          </a:bodyPr>
          <a:lstStyle/>
          <a:p>
            <a:pPr algn="l">
              <a:lnSpc>
                <a:spcPct val="120000"/>
              </a:lnSpc>
              <a:spcBef>
                <a:spcPts val="0"/>
              </a:spcBef>
              <a:spcAft>
                <a:spcPts val="500"/>
              </a:spcAft>
            </a:pPr>
            <a:r>
              <a:rPr sz="1230" b="0">
                <a:solidFill>
                  <a:srgbClr val="1B2A26"/>
                </a:solidFill>
                <a:latin typeface="Segoe UI"/>
              </a:rPr>
              <a:t>Outside its coverage the system says so and points to the national Krishi Call Center on 16123.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7150" cy="6858000"/>
          </a:xfrm>
          <a:prstGeom prst="rect">
            <a:avLst/>
          </a:prstGeom>
          <a:solidFill>
            <a:srgbClr val="1D4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515600" cy="274320"/>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THE SYSTEM AT A GLANCE</a:t>
            </a:r>
          </a:p>
        </p:txBody>
      </p:sp>
      <p:sp>
        <p:nvSpPr>
          <p:cNvPr id="5" name="TextBox 4"/>
          <p:cNvSpPr txBox="1"/>
          <p:nvPr/>
        </p:nvSpPr>
        <p:spPr>
          <a:xfrm>
            <a:off x="658368" y="658368"/>
            <a:ext cx="10972800" cy="566928"/>
          </a:xfrm>
          <a:prstGeom prst="rect">
            <a:avLst/>
          </a:prstGeom>
          <a:noFill/>
        </p:spPr>
        <p:txBody>
          <a:bodyPr wrap="square" anchor="t" lIns="0" rIns="0" tIns="0" bIns="0">
            <a:spAutoFit/>
          </a:bodyPr>
          <a:lstStyle/>
          <a:p>
            <a:pPr algn="l">
              <a:lnSpc>
                <a:spcPct val="114000"/>
              </a:lnSpc>
              <a:spcBef>
                <a:spcPts val="0"/>
              </a:spcBef>
              <a:spcAft>
                <a:spcPts val="500"/>
              </a:spcAft>
            </a:pPr>
            <a:r>
              <a:rPr sz="2600" b="1">
                <a:solidFill>
                  <a:srgbClr val="1D4E44"/>
                </a:solidFill>
                <a:latin typeface="Segoe UI Semibold"/>
              </a:rPr>
              <a:t>One assistant, many inputs, the server optional</a:t>
            </a:r>
          </a:p>
        </p:txBody>
      </p:sp>
      <p:sp>
        <p:nvSpPr>
          <p:cNvPr id="6" name="TextBox 5"/>
          <p:cNvSpPr txBox="1"/>
          <p:nvPr/>
        </p:nvSpPr>
        <p:spPr>
          <a:xfrm>
            <a:off x="676656" y="1207008"/>
            <a:ext cx="10607040" cy="310896"/>
          </a:xfrm>
          <a:prstGeom prst="rect">
            <a:avLst/>
          </a:prstGeom>
          <a:noFill/>
        </p:spPr>
        <p:txBody>
          <a:bodyPr wrap="square" anchor="t" lIns="0" rIns="0" tIns="0" bIns="0">
            <a:spAutoFit/>
          </a:bodyPr>
          <a:lstStyle/>
          <a:p>
            <a:pPr algn="l">
              <a:lnSpc>
                <a:spcPct val="110000"/>
              </a:lnSpc>
              <a:spcBef>
                <a:spcPts val="0"/>
              </a:spcBef>
              <a:spcAft>
                <a:spcPts val="500"/>
              </a:spcAft>
            </a:pPr>
            <a:r>
              <a:rPr sz="1300" b="0">
                <a:solidFill>
                  <a:srgbClr val="6B736E"/>
                </a:solidFill>
                <a:latin typeface="Segoe UI"/>
              </a:rPr>
              <a:t>A farmer's chat, a crop photo, soil and irrigation sensors, and a field drone all feed the same on-device assistant.</a:t>
            </a:r>
          </a:p>
        </p:txBody>
      </p:sp>
      <p:sp>
        <p:nvSpPr>
          <p:cNvPr id="7" name="Rectangle 6"/>
          <p:cNvSpPr/>
          <p:nvPr/>
        </p:nvSpPr>
        <p:spPr>
          <a:xfrm>
            <a:off x="676656" y="1572768"/>
            <a:ext cx="10835640" cy="13970"/>
          </a:xfrm>
          <a:prstGeom prst="rect">
            <a:avLst/>
          </a:prstGeom>
          <a:solidFill>
            <a:srgbClr val="D6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6437376"/>
            <a:ext cx="5486400" cy="237744"/>
          </a:xfrm>
          <a:prstGeom prst="rect">
            <a:avLst/>
          </a:prstGeom>
          <a:noFill/>
        </p:spPr>
        <p:txBody>
          <a:bodyPr wrap="square" anchor="t" lIns="0" rIns="0" tIns="0" bIns="0">
            <a:spAutoFit/>
          </a:bodyPr>
          <a:lstStyle/>
          <a:p>
            <a:pPr algn="l">
              <a:lnSpc>
                <a:spcPct val="114000"/>
              </a:lnSpc>
              <a:spcBef>
                <a:spcPts val="0"/>
              </a:spcBef>
              <a:spcAft>
                <a:spcPts val="500"/>
              </a:spcAft>
            </a:pPr>
            <a:r>
              <a:rPr sz="1000" b="1">
                <a:solidFill>
                  <a:srgbClr val="1D4E44"/>
                </a:solidFill>
                <a:latin typeface="Segoe UI Semibold"/>
              </a:rPr>
              <a:t>KrishokChat</a:t>
            </a:r>
            <a:r>
              <a:rPr sz="1000" b="0">
                <a:solidFill>
                  <a:srgbClr val="6B736E"/>
                </a:solidFill>
                <a:latin typeface="Segoe UI"/>
              </a:rPr>
              <a:t>    Innovation Fair Bangladesh</a:t>
            </a:r>
          </a:p>
        </p:txBody>
      </p:sp>
      <p:sp>
        <p:nvSpPr>
          <p:cNvPr id="9" name="TextBox 8"/>
          <p:cNvSpPr txBox="1"/>
          <p:nvPr/>
        </p:nvSpPr>
        <p:spPr>
          <a:xfrm>
            <a:off x="11094415" y="6437376"/>
            <a:ext cx="640080" cy="237744"/>
          </a:xfrm>
          <a:prstGeom prst="rect">
            <a:avLst/>
          </a:prstGeom>
          <a:noFill/>
        </p:spPr>
        <p:txBody>
          <a:bodyPr wrap="square" anchor="t" lIns="0" rIns="0" tIns="0" bIns="0">
            <a:spAutoFit/>
          </a:bodyPr>
          <a:lstStyle/>
          <a:p>
            <a:pPr algn="r">
              <a:lnSpc>
                <a:spcPct val="114000"/>
              </a:lnSpc>
              <a:spcBef>
                <a:spcPts val="0"/>
              </a:spcBef>
              <a:spcAft>
                <a:spcPts val="500"/>
              </a:spcAft>
            </a:pPr>
            <a:r>
              <a:rPr sz="1000" b="0">
                <a:solidFill>
                  <a:srgbClr val="6B736E"/>
                </a:solidFill>
                <a:latin typeface="Segoe UI"/>
              </a:rPr>
              <a:t>3 / 9</a:t>
            </a:r>
          </a:p>
        </p:txBody>
      </p:sp>
      <p:sp>
        <p:nvSpPr>
          <p:cNvPr id="10" name="Rectangle 9"/>
          <p:cNvSpPr/>
          <p:nvPr/>
        </p:nvSpPr>
        <p:spPr>
          <a:xfrm>
            <a:off x="813435" y="1773555"/>
            <a:ext cx="7267858" cy="3996689"/>
          </a:xfrm>
          <a:prstGeom prst="rect">
            <a:avLst/>
          </a:prstGeom>
          <a:noFill/>
          <a:ln w="9525">
            <a:solidFill>
              <a:srgbClr val="D6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easer_diagram.png"/>
          <p:cNvPicPr>
            <a:picLocks noChangeAspect="1"/>
          </p:cNvPicPr>
          <p:nvPr/>
        </p:nvPicPr>
        <p:blipFill>
          <a:blip r:embed="rId2"/>
          <a:stretch>
            <a:fillRect/>
          </a:stretch>
        </p:blipFill>
        <p:spPr>
          <a:xfrm>
            <a:off x="822960" y="1783080"/>
            <a:ext cx="7248808" cy="3977639"/>
          </a:xfrm>
          <a:prstGeom prst="rect">
            <a:avLst/>
          </a:prstGeom>
        </p:spPr>
      </p:pic>
      <p:sp>
        <p:nvSpPr>
          <p:cNvPr id="12" name="Rectangle 11"/>
          <p:cNvSpPr/>
          <p:nvPr/>
        </p:nvSpPr>
        <p:spPr>
          <a:xfrm>
            <a:off x="9601200" y="1783080"/>
            <a:ext cx="1938528" cy="3977639"/>
          </a:xfrm>
          <a:prstGeom prst="rect">
            <a:avLst/>
          </a:prstGeom>
          <a:solidFill>
            <a:srgbClr val="F0F4F2"/>
          </a:solidFill>
          <a:ln w="11430">
            <a:solidFill>
              <a:srgbClr val="D6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0" y="1938528"/>
            <a:ext cx="1609344" cy="365760"/>
          </a:xfrm>
          <a:prstGeom prst="rect">
            <a:avLst/>
          </a:prstGeom>
          <a:noFill/>
        </p:spPr>
        <p:txBody>
          <a:bodyPr wrap="square" anchor="t" lIns="0" rIns="0" tIns="0" bIns="0">
            <a:spAutoFit/>
          </a:bodyPr>
          <a:lstStyle/>
          <a:p>
            <a:pPr algn="l">
              <a:lnSpc>
                <a:spcPct val="110000"/>
              </a:lnSpc>
              <a:spcBef>
                <a:spcPts val="0"/>
              </a:spcBef>
              <a:spcAft>
                <a:spcPts val="500"/>
              </a:spcAft>
            </a:pPr>
            <a:r>
              <a:rPr sz="1350" b="1">
                <a:solidFill>
                  <a:srgbClr val="1D4E44"/>
                </a:solidFill>
                <a:latin typeface="Segoe UI Semibold"/>
              </a:rPr>
              <a:t>Four steps, every time</a:t>
            </a:r>
          </a:p>
        </p:txBody>
      </p:sp>
      <p:sp>
        <p:nvSpPr>
          <p:cNvPr id="14" name="TextBox 13"/>
          <p:cNvSpPr txBox="1"/>
          <p:nvPr/>
        </p:nvSpPr>
        <p:spPr>
          <a:xfrm>
            <a:off x="9784080" y="2450592"/>
            <a:ext cx="1609344" cy="274320"/>
          </a:xfrm>
          <a:prstGeom prst="rect">
            <a:avLst/>
          </a:prstGeom>
          <a:noFill/>
        </p:spPr>
        <p:txBody>
          <a:bodyPr wrap="square" anchor="t" lIns="0" rIns="0" tIns="0" bIns="0">
            <a:spAutoFit/>
          </a:bodyPr>
          <a:lstStyle/>
          <a:p>
            <a:pPr algn="l">
              <a:lnSpc>
                <a:spcPct val="114000"/>
              </a:lnSpc>
              <a:spcBef>
                <a:spcPts val="0"/>
              </a:spcBef>
              <a:spcAft>
                <a:spcPts val="500"/>
              </a:spcAft>
            </a:pPr>
            <a:r>
              <a:rPr sz="1300" b="1">
                <a:solidFill>
                  <a:srgbClr val="466473"/>
                </a:solidFill>
                <a:latin typeface="Segoe UI Semibold"/>
              </a:rPr>
              <a:t>1   </a:t>
            </a:r>
            <a:r>
              <a:rPr sz="1300" b="1">
                <a:solidFill>
                  <a:srgbClr val="1D4E44"/>
                </a:solidFill>
                <a:latin typeface="Segoe UI Semibold"/>
              </a:rPr>
              <a:t>Safety</a:t>
            </a:r>
          </a:p>
        </p:txBody>
      </p:sp>
      <p:sp>
        <p:nvSpPr>
          <p:cNvPr id="15" name="TextBox 14"/>
          <p:cNvSpPr txBox="1"/>
          <p:nvPr/>
        </p:nvSpPr>
        <p:spPr>
          <a:xfrm>
            <a:off x="9784080" y="2688336"/>
            <a:ext cx="1609344" cy="566928"/>
          </a:xfrm>
          <a:prstGeom prst="rect">
            <a:avLst/>
          </a:prstGeom>
          <a:noFill/>
        </p:spPr>
        <p:txBody>
          <a:bodyPr wrap="square" anchor="t" lIns="0" rIns="0" tIns="0" bIns="0">
            <a:spAutoFit/>
          </a:bodyPr>
          <a:lstStyle/>
          <a:p>
            <a:pPr algn="l">
              <a:lnSpc>
                <a:spcPct val="112000"/>
              </a:lnSpc>
              <a:spcBef>
                <a:spcPts val="0"/>
              </a:spcBef>
              <a:spcAft>
                <a:spcPts val="500"/>
              </a:spcAft>
            </a:pPr>
            <a:r>
              <a:rPr sz="1050" b="0">
                <a:solidFill>
                  <a:srgbClr val="6B736E"/>
                </a:solidFill>
                <a:latin typeface="Segoe UI"/>
              </a:rPr>
              <a:t>banned and unsafe requests stop here</a:t>
            </a:r>
          </a:p>
        </p:txBody>
      </p:sp>
      <p:sp>
        <p:nvSpPr>
          <p:cNvPr id="16" name="TextBox 15"/>
          <p:cNvSpPr txBox="1"/>
          <p:nvPr/>
        </p:nvSpPr>
        <p:spPr>
          <a:xfrm>
            <a:off x="9784080" y="3273552"/>
            <a:ext cx="1609344" cy="274320"/>
          </a:xfrm>
          <a:prstGeom prst="rect">
            <a:avLst/>
          </a:prstGeom>
          <a:noFill/>
        </p:spPr>
        <p:txBody>
          <a:bodyPr wrap="square" anchor="t" lIns="0" rIns="0" tIns="0" bIns="0">
            <a:spAutoFit/>
          </a:bodyPr>
          <a:lstStyle/>
          <a:p>
            <a:pPr algn="l">
              <a:lnSpc>
                <a:spcPct val="114000"/>
              </a:lnSpc>
              <a:spcBef>
                <a:spcPts val="0"/>
              </a:spcBef>
              <a:spcAft>
                <a:spcPts val="500"/>
              </a:spcAft>
            </a:pPr>
            <a:r>
              <a:rPr sz="1300" b="1">
                <a:solidFill>
                  <a:srgbClr val="466473"/>
                </a:solidFill>
                <a:latin typeface="Segoe UI Semibold"/>
              </a:rPr>
              <a:t>2   </a:t>
            </a:r>
            <a:r>
              <a:rPr sz="1300" b="1">
                <a:solidFill>
                  <a:srgbClr val="1D4E44"/>
                </a:solidFill>
                <a:latin typeface="Segoe UI Semibold"/>
              </a:rPr>
              <a:t>Retrieval</a:t>
            </a:r>
          </a:p>
        </p:txBody>
      </p:sp>
      <p:sp>
        <p:nvSpPr>
          <p:cNvPr id="17" name="TextBox 16"/>
          <p:cNvSpPr txBox="1"/>
          <p:nvPr/>
        </p:nvSpPr>
        <p:spPr>
          <a:xfrm>
            <a:off x="9784080" y="3511296"/>
            <a:ext cx="1609344" cy="566928"/>
          </a:xfrm>
          <a:prstGeom prst="rect">
            <a:avLst/>
          </a:prstGeom>
          <a:noFill/>
        </p:spPr>
        <p:txBody>
          <a:bodyPr wrap="square" anchor="t" lIns="0" rIns="0" tIns="0" bIns="0">
            <a:spAutoFit/>
          </a:bodyPr>
          <a:lstStyle/>
          <a:p>
            <a:pPr algn="l">
              <a:lnSpc>
                <a:spcPct val="112000"/>
              </a:lnSpc>
              <a:spcBef>
                <a:spcPts val="0"/>
              </a:spcBef>
              <a:spcAft>
                <a:spcPts val="500"/>
              </a:spcAft>
            </a:pPr>
            <a:r>
              <a:rPr sz="1050" b="0">
                <a:solidFill>
                  <a:srgbClr val="6B736E"/>
                </a:solidFill>
                <a:latin typeface="Segoe UI"/>
              </a:rPr>
              <a:t>BM25 over curated official sources</a:t>
            </a:r>
          </a:p>
        </p:txBody>
      </p:sp>
      <p:sp>
        <p:nvSpPr>
          <p:cNvPr id="18" name="TextBox 17"/>
          <p:cNvSpPr txBox="1"/>
          <p:nvPr/>
        </p:nvSpPr>
        <p:spPr>
          <a:xfrm>
            <a:off x="9784080" y="4096512"/>
            <a:ext cx="1609344" cy="274320"/>
          </a:xfrm>
          <a:prstGeom prst="rect">
            <a:avLst/>
          </a:prstGeom>
          <a:noFill/>
        </p:spPr>
        <p:txBody>
          <a:bodyPr wrap="square" anchor="t" lIns="0" rIns="0" tIns="0" bIns="0">
            <a:spAutoFit/>
          </a:bodyPr>
          <a:lstStyle/>
          <a:p>
            <a:pPr algn="l">
              <a:lnSpc>
                <a:spcPct val="114000"/>
              </a:lnSpc>
              <a:spcBef>
                <a:spcPts val="0"/>
              </a:spcBef>
              <a:spcAft>
                <a:spcPts val="500"/>
              </a:spcAft>
            </a:pPr>
            <a:r>
              <a:rPr sz="1300" b="1">
                <a:solidFill>
                  <a:srgbClr val="466473"/>
                </a:solidFill>
                <a:latin typeface="Segoe UI Semibold"/>
              </a:rPr>
              <a:t>3   </a:t>
            </a:r>
            <a:r>
              <a:rPr sz="1300" b="1">
                <a:solidFill>
                  <a:srgbClr val="1D4E44"/>
                </a:solidFill>
                <a:latin typeface="Segoe UI Semibold"/>
              </a:rPr>
              <a:t>Answer</a:t>
            </a:r>
          </a:p>
        </p:txBody>
      </p:sp>
      <p:sp>
        <p:nvSpPr>
          <p:cNvPr id="19" name="TextBox 18"/>
          <p:cNvSpPr txBox="1"/>
          <p:nvPr/>
        </p:nvSpPr>
        <p:spPr>
          <a:xfrm>
            <a:off x="9784080" y="4334256"/>
            <a:ext cx="1609344" cy="566928"/>
          </a:xfrm>
          <a:prstGeom prst="rect">
            <a:avLst/>
          </a:prstGeom>
          <a:noFill/>
        </p:spPr>
        <p:txBody>
          <a:bodyPr wrap="square" anchor="t" lIns="0" rIns="0" tIns="0" bIns="0">
            <a:spAutoFit/>
          </a:bodyPr>
          <a:lstStyle/>
          <a:p>
            <a:pPr algn="l">
              <a:lnSpc>
                <a:spcPct val="112000"/>
              </a:lnSpc>
              <a:spcBef>
                <a:spcPts val="0"/>
              </a:spcBef>
              <a:spcAft>
                <a:spcPts val="500"/>
              </a:spcAft>
            </a:pPr>
            <a:r>
              <a:rPr sz="1050" b="0">
                <a:solidFill>
                  <a:srgbClr val="6B736E"/>
                </a:solidFill>
                <a:latin typeface="Segoe UI"/>
              </a:rPr>
              <a:t>composed from retrieved evidence</a:t>
            </a:r>
          </a:p>
        </p:txBody>
      </p:sp>
      <p:sp>
        <p:nvSpPr>
          <p:cNvPr id="20" name="TextBox 19"/>
          <p:cNvSpPr txBox="1"/>
          <p:nvPr/>
        </p:nvSpPr>
        <p:spPr>
          <a:xfrm>
            <a:off x="9784080" y="4919472"/>
            <a:ext cx="1609344" cy="274320"/>
          </a:xfrm>
          <a:prstGeom prst="rect">
            <a:avLst/>
          </a:prstGeom>
          <a:noFill/>
        </p:spPr>
        <p:txBody>
          <a:bodyPr wrap="square" anchor="t" lIns="0" rIns="0" tIns="0" bIns="0">
            <a:spAutoFit/>
          </a:bodyPr>
          <a:lstStyle/>
          <a:p>
            <a:pPr algn="l">
              <a:lnSpc>
                <a:spcPct val="114000"/>
              </a:lnSpc>
              <a:spcBef>
                <a:spcPts val="0"/>
              </a:spcBef>
              <a:spcAft>
                <a:spcPts val="500"/>
              </a:spcAft>
            </a:pPr>
            <a:r>
              <a:rPr sz="1300" b="1">
                <a:solidFill>
                  <a:srgbClr val="466473"/>
                </a:solidFill>
                <a:latin typeface="Segoe UI Semibold"/>
              </a:rPr>
              <a:t>4   </a:t>
            </a:r>
            <a:r>
              <a:rPr sz="1300" b="1">
                <a:solidFill>
                  <a:srgbClr val="1D4E44"/>
                </a:solidFill>
                <a:latin typeface="Segoe UI Semibold"/>
              </a:rPr>
              <a:t>Verifier</a:t>
            </a:r>
          </a:p>
        </p:txBody>
      </p:sp>
      <p:sp>
        <p:nvSpPr>
          <p:cNvPr id="21" name="TextBox 20"/>
          <p:cNvSpPr txBox="1"/>
          <p:nvPr/>
        </p:nvSpPr>
        <p:spPr>
          <a:xfrm>
            <a:off x="9784080" y="5157216"/>
            <a:ext cx="1609344" cy="566928"/>
          </a:xfrm>
          <a:prstGeom prst="rect">
            <a:avLst/>
          </a:prstGeom>
          <a:noFill/>
        </p:spPr>
        <p:txBody>
          <a:bodyPr wrap="square" anchor="t" lIns="0" rIns="0" tIns="0" bIns="0">
            <a:spAutoFit/>
          </a:bodyPr>
          <a:lstStyle/>
          <a:p>
            <a:pPr algn="l">
              <a:lnSpc>
                <a:spcPct val="112000"/>
              </a:lnSpc>
              <a:spcBef>
                <a:spcPts val="0"/>
              </a:spcBef>
              <a:spcAft>
                <a:spcPts val="500"/>
              </a:spcAft>
            </a:pPr>
            <a:r>
              <a:rPr sz="1050" b="0">
                <a:solidFill>
                  <a:srgbClr val="6B736E"/>
                </a:solidFill>
                <a:latin typeface="Segoe UI"/>
              </a:rPr>
              <a:t>each dose checked against its source</a:t>
            </a:r>
          </a:p>
        </p:txBody>
      </p:sp>
      <p:sp>
        <p:nvSpPr>
          <p:cNvPr id="22" name="TextBox 21"/>
          <p:cNvSpPr txBox="1"/>
          <p:nvPr/>
        </p:nvSpPr>
        <p:spPr>
          <a:xfrm>
            <a:off x="822960" y="5870448"/>
            <a:ext cx="8503920" cy="365760"/>
          </a:xfrm>
          <a:prstGeom prst="rect">
            <a:avLst/>
          </a:prstGeom>
          <a:noFill/>
        </p:spPr>
        <p:txBody>
          <a:bodyPr wrap="square" anchor="t" lIns="0" rIns="0" tIns="0" bIns="0">
            <a:spAutoFit/>
          </a:bodyPr>
          <a:lstStyle/>
          <a:p>
            <a:pPr algn="l">
              <a:lnSpc>
                <a:spcPct val="112000"/>
              </a:lnSpc>
              <a:spcBef>
                <a:spcPts val="0"/>
              </a:spcBef>
              <a:spcAft>
                <a:spcPts val="500"/>
              </a:spcAft>
            </a:pPr>
            <a:r>
              <a:rPr sz="1050" b="0">
                <a:solidFill>
                  <a:srgbClr val="6B736E"/>
                </a:solidFill>
                <a:latin typeface="Segoe UI"/>
              </a:rPr>
              <a:t>The heavy language model is one step of four. Knowledge, safety rules, and vision models stay separate from it, which is what makes an on-device path realistic.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7150" cy="6858000"/>
          </a:xfrm>
          <a:prstGeom prst="rect">
            <a:avLst/>
          </a:prstGeom>
          <a:solidFill>
            <a:srgbClr val="1D4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515600" cy="274320"/>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ORIGINALITY AND RESEARCH FOUNDATION</a:t>
            </a:r>
          </a:p>
        </p:txBody>
      </p:sp>
      <p:sp>
        <p:nvSpPr>
          <p:cNvPr id="5" name="TextBox 4"/>
          <p:cNvSpPr txBox="1"/>
          <p:nvPr/>
        </p:nvSpPr>
        <p:spPr>
          <a:xfrm>
            <a:off x="658368" y="658368"/>
            <a:ext cx="10972800" cy="566928"/>
          </a:xfrm>
          <a:prstGeom prst="rect">
            <a:avLst/>
          </a:prstGeom>
          <a:noFill/>
        </p:spPr>
        <p:txBody>
          <a:bodyPr wrap="square" anchor="t" lIns="0" rIns="0" tIns="0" bIns="0">
            <a:spAutoFit/>
          </a:bodyPr>
          <a:lstStyle/>
          <a:p>
            <a:pPr algn="l">
              <a:lnSpc>
                <a:spcPct val="114000"/>
              </a:lnSpc>
              <a:spcBef>
                <a:spcPts val="0"/>
              </a:spcBef>
              <a:spcAft>
                <a:spcPts val="500"/>
              </a:spcAft>
            </a:pPr>
            <a:r>
              <a:rPr sz="2600" b="1">
                <a:solidFill>
                  <a:srgbClr val="1D4E44"/>
                </a:solidFill>
                <a:latin typeface="Segoe UI Semibold"/>
              </a:rPr>
              <a:t>The contribution is the architecture, not the model choice</a:t>
            </a:r>
          </a:p>
        </p:txBody>
      </p:sp>
      <p:sp>
        <p:nvSpPr>
          <p:cNvPr id="6" name="Rectangle 5"/>
          <p:cNvSpPr/>
          <p:nvPr/>
        </p:nvSpPr>
        <p:spPr>
          <a:xfrm>
            <a:off x="676656" y="1243584"/>
            <a:ext cx="10835640" cy="13970"/>
          </a:xfrm>
          <a:prstGeom prst="rect">
            <a:avLst/>
          </a:prstGeom>
          <a:solidFill>
            <a:srgbClr val="D6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37376"/>
            <a:ext cx="5486400" cy="237744"/>
          </a:xfrm>
          <a:prstGeom prst="rect">
            <a:avLst/>
          </a:prstGeom>
          <a:noFill/>
        </p:spPr>
        <p:txBody>
          <a:bodyPr wrap="square" anchor="t" lIns="0" rIns="0" tIns="0" bIns="0">
            <a:spAutoFit/>
          </a:bodyPr>
          <a:lstStyle/>
          <a:p>
            <a:pPr algn="l">
              <a:lnSpc>
                <a:spcPct val="114000"/>
              </a:lnSpc>
              <a:spcBef>
                <a:spcPts val="0"/>
              </a:spcBef>
              <a:spcAft>
                <a:spcPts val="500"/>
              </a:spcAft>
            </a:pPr>
            <a:r>
              <a:rPr sz="1000" b="1">
                <a:solidFill>
                  <a:srgbClr val="1D4E44"/>
                </a:solidFill>
                <a:latin typeface="Segoe UI Semibold"/>
              </a:rPr>
              <a:t>KrishokChat</a:t>
            </a:r>
            <a:r>
              <a:rPr sz="1000" b="0">
                <a:solidFill>
                  <a:srgbClr val="6B736E"/>
                </a:solidFill>
                <a:latin typeface="Segoe UI"/>
              </a:rPr>
              <a:t>    Innovation Fair Bangladesh</a:t>
            </a:r>
          </a:p>
        </p:txBody>
      </p:sp>
      <p:sp>
        <p:nvSpPr>
          <p:cNvPr id="8" name="TextBox 7"/>
          <p:cNvSpPr txBox="1"/>
          <p:nvPr/>
        </p:nvSpPr>
        <p:spPr>
          <a:xfrm>
            <a:off x="11094415" y="6437376"/>
            <a:ext cx="640080" cy="237744"/>
          </a:xfrm>
          <a:prstGeom prst="rect">
            <a:avLst/>
          </a:prstGeom>
          <a:noFill/>
        </p:spPr>
        <p:txBody>
          <a:bodyPr wrap="square" anchor="t" lIns="0" rIns="0" tIns="0" bIns="0">
            <a:spAutoFit/>
          </a:bodyPr>
          <a:lstStyle/>
          <a:p>
            <a:pPr algn="r">
              <a:lnSpc>
                <a:spcPct val="114000"/>
              </a:lnSpc>
              <a:spcBef>
                <a:spcPts val="0"/>
              </a:spcBef>
              <a:spcAft>
                <a:spcPts val="500"/>
              </a:spcAft>
            </a:pPr>
            <a:r>
              <a:rPr sz="1000" b="0">
                <a:solidFill>
                  <a:srgbClr val="6B736E"/>
                </a:solidFill>
                <a:latin typeface="Segoe UI"/>
              </a:rPr>
              <a:t>4 / 9</a:t>
            </a:r>
          </a:p>
        </p:txBody>
      </p:sp>
      <p:sp>
        <p:nvSpPr>
          <p:cNvPr id="9" name="TextBox 8"/>
          <p:cNvSpPr txBox="1"/>
          <p:nvPr/>
        </p:nvSpPr>
        <p:spPr>
          <a:xfrm>
            <a:off x="685800" y="1481328"/>
            <a:ext cx="5349240" cy="292608"/>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WHAT IS GENUINELY NEW</a:t>
            </a:r>
          </a:p>
        </p:txBody>
      </p:sp>
      <p:sp>
        <p:nvSpPr>
          <p:cNvPr id="10" name="Rectangle 9"/>
          <p:cNvSpPr/>
          <p:nvPr/>
        </p:nvSpPr>
        <p:spPr>
          <a:xfrm>
            <a:off x="685800" y="1911096"/>
            <a:ext cx="38100" cy="192024"/>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865376"/>
            <a:ext cx="5120640" cy="274320"/>
          </a:xfrm>
          <a:prstGeom prst="rect">
            <a:avLst/>
          </a:prstGeom>
          <a:noFill/>
        </p:spPr>
        <p:txBody>
          <a:bodyPr wrap="square" anchor="t" lIns="0" rIns="0" tIns="0" bIns="0">
            <a:spAutoFit/>
          </a:bodyPr>
          <a:lstStyle/>
          <a:p>
            <a:pPr algn="l">
              <a:lnSpc>
                <a:spcPct val="114000"/>
              </a:lnSpc>
              <a:spcBef>
                <a:spcPts val="0"/>
              </a:spcBef>
              <a:spcAft>
                <a:spcPts val="500"/>
              </a:spcAft>
            </a:pPr>
            <a:r>
              <a:rPr sz="1400" b="1">
                <a:solidFill>
                  <a:srgbClr val="1D4E44"/>
                </a:solidFill>
                <a:latin typeface="Segoe UI Semibold"/>
              </a:rPr>
              <a:t>Answers are composed, not improvised</a:t>
            </a:r>
          </a:p>
        </p:txBody>
      </p:sp>
      <p:sp>
        <p:nvSpPr>
          <p:cNvPr id="12" name="TextBox 11"/>
          <p:cNvSpPr txBox="1"/>
          <p:nvPr/>
        </p:nvSpPr>
        <p:spPr>
          <a:xfrm>
            <a:off x="886968" y="2130552"/>
            <a:ext cx="5120640" cy="777240"/>
          </a:xfrm>
          <a:prstGeom prst="rect">
            <a:avLst/>
          </a:prstGeom>
          <a:noFill/>
        </p:spPr>
        <p:txBody>
          <a:bodyPr wrap="square" anchor="t" lIns="0" rIns="0" tIns="0" bIns="0">
            <a:spAutoFit/>
          </a:bodyPr>
          <a:lstStyle/>
          <a:p>
            <a:pPr algn="l">
              <a:lnSpc>
                <a:spcPct val="120000"/>
              </a:lnSpc>
              <a:spcBef>
                <a:spcPts val="0"/>
              </a:spcBef>
              <a:spcAft>
                <a:spcPts val="500"/>
              </a:spcAft>
            </a:pPr>
            <a:r>
              <a:rPr sz="1230" b="0">
                <a:solidFill>
                  <a:srgbClr val="1B2A26"/>
                </a:solidFill>
                <a:latin typeface="Segoe UI"/>
              </a:rPr>
              <a:t>High risk questions such as a registered dose resolve from a structured, source cited knowledge base. The same question returns the same cited answer every time, which a generative model cannot promise.</a:t>
            </a:r>
          </a:p>
        </p:txBody>
      </p:sp>
      <p:sp>
        <p:nvSpPr>
          <p:cNvPr id="13" name="Rectangle 12"/>
          <p:cNvSpPr/>
          <p:nvPr/>
        </p:nvSpPr>
        <p:spPr>
          <a:xfrm>
            <a:off x="685800" y="2953511"/>
            <a:ext cx="38100" cy="192024"/>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907791"/>
            <a:ext cx="5120640" cy="274320"/>
          </a:xfrm>
          <a:prstGeom prst="rect">
            <a:avLst/>
          </a:prstGeom>
          <a:noFill/>
        </p:spPr>
        <p:txBody>
          <a:bodyPr wrap="square" anchor="t" lIns="0" rIns="0" tIns="0" bIns="0">
            <a:spAutoFit/>
          </a:bodyPr>
          <a:lstStyle/>
          <a:p>
            <a:pPr algn="l">
              <a:lnSpc>
                <a:spcPct val="114000"/>
              </a:lnSpc>
              <a:spcBef>
                <a:spcPts val="0"/>
              </a:spcBef>
              <a:spcAft>
                <a:spcPts val="500"/>
              </a:spcAft>
            </a:pPr>
            <a:r>
              <a:rPr sz="1400" b="1">
                <a:solidFill>
                  <a:srgbClr val="1D4E44"/>
                </a:solidFill>
                <a:latin typeface="Segoe UI Semibold"/>
              </a:rPr>
              <a:t>The language model has bounded authority</a:t>
            </a:r>
          </a:p>
        </p:txBody>
      </p:sp>
      <p:sp>
        <p:nvSpPr>
          <p:cNvPr id="15" name="TextBox 14"/>
          <p:cNvSpPr txBox="1"/>
          <p:nvPr/>
        </p:nvSpPr>
        <p:spPr>
          <a:xfrm>
            <a:off x="886968" y="3172967"/>
            <a:ext cx="5120640" cy="777240"/>
          </a:xfrm>
          <a:prstGeom prst="rect">
            <a:avLst/>
          </a:prstGeom>
          <a:noFill/>
        </p:spPr>
        <p:txBody>
          <a:bodyPr wrap="square" anchor="t" lIns="0" rIns="0" tIns="0" bIns="0">
            <a:spAutoFit/>
          </a:bodyPr>
          <a:lstStyle/>
          <a:p>
            <a:pPr algn="l">
              <a:lnSpc>
                <a:spcPct val="120000"/>
              </a:lnSpc>
              <a:spcBef>
                <a:spcPts val="0"/>
              </a:spcBef>
              <a:spcAft>
                <a:spcPts val="500"/>
              </a:spcAft>
            </a:pPr>
            <a:r>
              <a:rPr sz="1230" b="0">
                <a:solidFill>
                  <a:srgbClr val="1B2A26"/>
                </a:solidFill>
                <a:latin typeface="Segoe UI"/>
              </a:rPr>
              <a:t>It phrases and disambiguates. It is never trusted to invent a dose, and it is bypassed entirely when a cited table can already answer.</a:t>
            </a:r>
          </a:p>
        </p:txBody>
      </p:sp>
      <p:sp>
        <p:nvSpPr>
          <p:cNvPr id="16" name="Rectangle 15"/>
          <p:cNvSpPr/>
          <p:nvPr/>
        </p:nvSpPr>
        <p:spPr>
          <a:xfrm>
            <a:off x="685800" y="3995926"/>
            <a:ext cx="38100" cy="192024"/>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3950206"/>
            <a:ext cx="5120640" cy="274320"/>
          </a:xfrm>
          <a:prstGeom prst="rect">
            <a:avLst/>
          </a:prstGeom>
          <a:noFill/>
        </p:spPr>
        <p:txBody>
          <a:bodyPr wrap="square" anchor="t" lIns="0" rIns="0" tIns="0" bIns="0">
            <a:spAutoFit/>
          </a:bodyPr>
          <a:lstStyle/>
          <a:p>
            <a:pPr algn="l">
              <a:lnSpc>
                <a:spcPct val="114000"/>
              </a:lnSpc>
              <a:spcBef>
                <a:spcPts val="0"/>
              </a:spcBef>
              <a:spcAft>
                <a:spcPts val="500"/>
              </a:spcAft>
            </a:pPr>
            <a:r>
              <a:rPr sz="1400" b="1">
                <a:solidFill>
                  <a:srgbClr val="1D4E44"/>
                </a:solidFill>
                <a:latin typeface="Segoe UI Semibold"/>
              </a:rPr>
              <a:t>Provenance is structural</a:t>
            </a:r>
          </a:p>
        </p:txBody>
      </p:sp>
      <p:sp>
        <p:nvSpPr>
          <p:cNvPr id="18" name="TextBox 17"/>
          <p:cNvSpPr txBox="1"/>
          <p:nvPr/>
        </p:nvSpPr>
        <p:spPr>
          <a:xfrm>
            <a:off x="886968" y="4215382"/>
            <a:ext cx="5120640" cy="777240"/>
          </a:xfrm>
          <a:prstGeom prst="rect">
            <a:avLst/>
          </a:prstGeom>
          <a:noFill/>
        </p:spPr>
        <p:txBody>
          <a:bodyPr wrap="square" anchor="t" lIns="0" rIns="0" tIns="0" bIns="0">
            <a:spAutoFit/>
          </a:bodyPr>
          <a:lstStyle/>
          <a:p>
            <a:pPr algn="l">
              <a:lnSpc>
                <a:spcPct val="120000"/>
              </a:lnSpc>
              <a:spcBef>
                <a:spcPts val="0"/>
              </a:spcBef>
              <a:spcAft>
                <a:spcPts val="500"/>
              </a:spcAft>
            </a:pPr>
            <a:r>
              <a:rPr sz="1230" b="0">
                <a:solidFill>
                  <a:srgbClr val="1B2A26"/>
                </a:solidFill>
                <a:latin typeface="Segoe UI"/>
              </a:rPr>
              <a:t>Citations are attached by construction rather than requested from the model, so a fabricated reference is not a failure mode that can occur.</a:t>
            </a:r>
          </a:p>
        </p:txBody>
      </p:sp>
      <p:sp>
        <p:nvSpPr>
          <p:cNvPr id="19" name="Rectangle 18"/>
          <p:cNvSpPr/>
          <p:nvPr/>
        </p:nvSpPr>
        <p:spPr>
          <a:xfrm>
            <a:off x="685800" y="5038341"/>
            <a:ext cx="38100" cy="192024"/>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4992621"/>
            <a:ext cx="5120640" cy="274320"/>
          </a:xfrm>
          <a:prstGeom prst="rect">
            <a:avLst/>
          </a:prstGeom>
          <a:noFill/>
        </p:spPr>
        <p:txBody>
          <a:bodyPr wrap="square" anchor="t" lIns="0" rIns="0" tIns="0" bIns="0">
            <a:spAutoFit/>
          </a:bodyPr>
          <a:lstStyle/>
          <a:p>
            <a:pPr algn="l">
              <a:lnSpc>
                <a:spcPct val="114000"/>
              </a:lnSpc>
              <a:spcBef>
                <a:spcPts val="0"/>
              </a:spcBef>
              <a:spcAft>
                <a:spcPts val="500"/>
              </a:spcAft>
            </a:pPr>
            <a:r>
              <a:rPr sz="1400" b="1">
                <a:solidFill>
                  <a:srgbClr val="1D4E44"/>
                </a:solidFill>
                <a:latin typeface="Segoe UI Semibold"/>
              </a:rPr>
              <a:t>Dialect and intent are first class</a:t>
            </a:r>
          </a:p>
        </p:txBody>
      </p:sp>
      <p:sp>
        <p:nvSpPr>
          <p:cNvPr id="21" name="TextBox 20"/>
          <p:cNvSpPr txBox="1"/>
          <p:nvPr/>
        </p:nvSpPr>
        <p:spPr>
          <a:xfrm>
            <a:off x="886968" y="5257797"/>
            <a:ext cx="5120640" cy="777240"/>
          </a:xfrm>
          <a:prstGeom prst="rect">
            <a:avLst/>
          </a:prstGeom>
          <a:noFill/>
        </p:spPr>
        <p:txBody>
          <a:bodyPr wrap="square" anchor="t" lIns="0" rIns="0" tIns="0" bIns="0">
            <a:spAutoFit/>
          </a:bodyPr>
          <a:lstStyle/>
          <a:p>
            <a:pPr algn="l">
              <a:lnSpc>
                <a:spcPct val="120000"/>
              </a:lnSpc>
              <a:spcBef>
                <a:spcPts val="0"/>
              </a:spcBef>
              <a:spcAft>
                <a:spcPts val="500"/>
              </a:spcAft>
            </a:pPr>
            <a:r>
              <a:rPr sz="1230" b="0">
                <a:solidFill>
                  <a:srgbClr val="1B2A26"/>
                </a:solidFill>
                <a:latin typeface="Segoe UI"/>
              </a:rPr>
              <a:t>A farmer's vague, dialect heavy question is classified into intent and converted into a structured request before anything is retrieved.</a:t>
            </a:r>
          </a:p>
        </p:txBody>
      </p:sp>
      <p:sp>
        <p:nvSpPr>
          <p:cNvPr id="22" name="Rectangle 21"/>
          <p:cNvSpPr/>
          <p:nvPr/>
        </p:nvSpPr>
        <p:spPr>
          <a:xfrm>
            <a:off x="6537960" y="1481328"/>
            <a:ext cx="4983480" cy="2331720"/>
          </a:xfrm>
          <a:prstGeom prst="rect">
            <a:avLst/>
          </a:prstGeom>
          <a:solidFill>
            <a:srgbClr val="F0F4F2"/>
          </a:solidFill>
          <a:ln w="11430">
            <a:solidFill>
              <a:srgbClr val="D6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30568" y="1691640"/>
            <a:ext cx="4398264" cy="320040"/>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PUBLISHED FOUNDATION</a:t>
            </a:r>
          </a:p>
        </p:txBody>
      </p:sp>
      <p:sp>
        <p:nvSpPr>
          <p:cNvPr id="24" name="TextBox 23"/>
          <p:cNvSpPr txBox="1"/>
          <p:nvPr/>
        </p:nvSpPr>
        <p:spPr>
          <a:xfrm>
            <a:off x="6830568" y="2048256"/>
            <a:ext cx="4398264" cy="1600200"/>
          </a:xfrm>
          <a:prstGeom prst="rect">
            <a:avLst/>
          </a:prstGeom>
          <a:noFill/>
        </p:spPr>
        <p:txBody>
          <a:bodyPr wrap="square" anchor="t" lIns="0" rIns="0" tIns="0" bIns="0">
            <a:spAutoFit/>
          </a:bodyPr>
          <a:lstStyle/>
          <a:p>
            <a:pPr algn="l">
              <a:lnSpc>
                <a:spcPct val="124000"/>
              </a:lnSpc>
              <a:spcBef>
                <a:spcPts val="0"/>
              </a:spcBef>
              <a:spcAft>
                <a:spcPts val="500"/>
              </a:spcAft>
            </a:pPr>
            <a:r>
              <a:rPr sz="1300" b="0">
                <a:solidFill>
                  <a:srgbClr val="1B2A26"/>
                </a:solidFill>
                <a:latin typeface="Segoe UI"/>
              </a:rPr>
              <a:t>The benchmark and safety critical advisory dataset behind the assistant: </a:t>
            </a:r>
            <a:r>
              <a:rPr sz="1300" b="1">
                <a:solidFill>
                  <a:srgbClr val="1D4E44"/>
                </a:solidFill>
                <a:latin typeface="Segoe UI Semibold"/>
              </a:rPr>
              <a:t>arxiv.org/abs/2606.29243</a:t>
            </a:r>
          </a:p>
          <a:p>
            <a:pPr algn="l">
              <a:lnSpc>
                <a:spcPct val="124000"/>
              </a:lnSpc>
              <a:spcBef>
                <a:spcPts val="0"/>
              </a:spcBef>
              <a:spcAft>
                <a:spcPts val="500"/>
              </a:spcAft>
            </a:pPr>
            <a:r>
              <a:rPr sz="600" b="0">
                <a:solidFill>
                  <a:srgbClr val="1B2A26"/>
                </a:solidFill>
                <a:latin typeface="Segoe UI"/>
              </a:rPr>
              <a:t/>
            </a:r>
          </a:p>
          <a:p>
            <a:pPr algn="l">
              <a:lnSpc>
                <a:spcPct val="124000"/>
              </a:lnSpc>
              <a:spcBef>
                <a:spcPts val="0"/>
              </a:spcBef>
              <a:spcAft>
                <a:spcPts val="500"/>
              </a:spcAft>
            </a:pPr>
            <a:r>
              <a:rPr sz="1300" b="0">
                <a:solidFill>
                  <a:srgbClr val="1B2A26"/>
                </a:solidFill>
                <a:latin typeface="Segoe UI"/>
              </a:rPr>
              <a:t>The provenance traceable retrieval architecture the answers are grounded in: </a:t>
            </a:r>
            <a:r>
              <a:rPr sz="1300" b="1">
                <a:solidFill>
                  <a:srgbClr val="1D4E44"/>
                </a:solidFill>
                <a:latin typeface="Segoe UI Semibold"/>
              </a:rPr>
              <a:t>arxiv.org/abs/2608.14886</a:t>
            </a:r>
          </a:p>
          <a:p>
            <a:pPr algn="l">
              <a:lnSpc>
                <a:spcPct val="124000"/>
              </a:lnSpc>
              <a:spcBef>
                <a:spcPts val="0"/>
              </a:spcBef>
              <a:spcAft>
                <a:spcPts val="500"/>
              </a:spcAft>
            </a:pPr>
            <a:r>
              <a:rPr sz="600" b="0">
                <a:solidFill>
                  <a:srgbClr val="1B2A26"/>
                </a:solidFill>
                <a:latin typeface="Segoe UI"/>
              </a:rPr>
              <a:t/>
            </a:r>
          </a:p>
          <a:p>
            <a:pPr algn="l">
              <a:lnSpc>
                <a:spcPct val="124000"/>
              </a:lnSpc>
              <a:spcBef>
                <a:spcPts val="0"/>
              </a:spcBef>
              <a:spcAft>
                <a:spcPts val="500"/>
              </a:spcAft>
            </a:pPr>
            <a:r>
              <a:rPr sz="1250" b="0">
                <a:solidFill>
                  <a:srgbClr val="6B736E"/>
                </a:solidFill>
                <a:latin typeface="Segoe UI"/>
              </a:rPr>
              <a:t>A third paper covers the system and its evaluation, with further work in progress.</a:t>
            </a:r>
          </a:p>
        </p:txBody>
      </p:sp>
      <p:sp>
        <p:nvSpPr>
          <p:cNvPr id="25" name="Rectangle 24"/>
          <p:cNvSpPr/>
          <p:nvPr/>
        </p:nvSpPr>
        <p:spPr>
          <a:xfrm>
            <a:off x="6537960" y="4023360"/>
            <a:ext cx="4983480" cy="1737360"/>
          </a:xfrm>
          <a:prstGeom prst="rect">
            <a:avLst/>
          </a:prstGeom>
          <a:noFill/>
          <a:ln w="11430">
            <a:solidFill>
              <a:srgbClr val="D6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0568" y="4206240"/>
            <a:ext cx="4398264" cy="320040"/>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WHY THIS IS NOT AN API WRAPPER</a:t>
            </a:r>
          </a:p>
        </p:txBody>
      </p:sp>
      <p:sp>
        <p:nvSpPr>
          <p:cNvPr id="27" name="TextBox 26"/>
          <p:cNvSpPr txBox="1"/>
          <p:nvPr/>
        </p:nvSpPr>
        <p:spPr>
          <a:xfrm>
            <a:off x="6830568" y="4553712"/>
            <a:ext cx="4398264" cy="1097280"/>
          </a:xfrm>
          <a:prstGeom prst="rect">
            <a:avLst/>
          </a:prstGeom>
          <a:noFill/>
        </p:spPr>
        <p:txBody>
          <a:bodyPr wrap="square" anchor="t" lIns="0" rIns="0" tIns="0" bIns="0">
            <a:spAutoFit/>
          </a:bodyPr>
          <a:lstStyle/>
          <a:p>
            <a:pPr algn="l">
              <a:lnSpc>
                <a:spcPct val="122000"/>
              </a:lnSpc>
              <a:spcBef>
                <a:spcPts val="0"/>
              </a:spcBef>
              <a:spcAft>
                <a:spcPts val="500"/>
              </a:spcAft>
            </a:pPr>
            <a:r>
              <a:rPr sz="1250" b="0">
                <a:solidFill>
                  <a:srgbClr val="1B2A26"/>
                </a:solidFill>
                <a:latin typeface="Segoe UI"/>
              </a:rPr>
              <a:t>A quantised Gemma model is served locally through llama.cpp, the retrieval index and dose references are built offline into versioned artifacts, and the safety registry is domain specific to Bangladesh. Nothing critical to a farmer's answer depends on a rented frontier API.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7150" cy="6858000"/>
          </a:xfrm>
          <a:prstGeom prst="rect">
            <a:avLst/>
          </a:prstGeom>
          <a:solidFill>
            <a:srgbClr val="1D4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515600" cy="274320"/>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TECHNICAL CAPABILITY AND MATURITY</a:t>
            </a:r>
          </a:p>
        </p:txBody>
      </p:sp>
      <p:sp>
        <p:nvSpPr>
          <p:cNvPr id="5" name="TextBox 4"/>
          <p:cNvSpPr txBox="1"/>
          <p:nvPr/>
        </p:nvSpPr>
        <p:spPr>
          <a:xfrm>
            <a:off x="658368" y="658368"/>
            <a:ext cx="10972800" cy="566928"/>
          </a:xfrm>
          <a:prstGeom prst="rect">
            <a:avLst/>
          </a:prstGeom>
          <a:noFill/>
        </p:spPr>
        <p:txBody>
          <a:bodyPr wrap="square" anchor="t" lIns="0" rIns="0" tIns="0" bIns="0">
            <a:spAutoFit/>
          </a:bodyPr>
          <a:lstStyle/>
          <a:p>
            <a:pPr algn="l">
              <a:lnSpc>
                <a:spcPct val="114000"/>
              </a:lnSpc>
              <a:spcBef>
                <a:spcPts val="0"/>
              </a:spcBef>
              <a:spcAft>
                <a:spcPts val="500"/>
              </a:spcAft>
            </a:pPr>
            <a:r>
              <a:rPr sz="2600" b="1">
                <a:solidFill>
                  <a:srgbClr val="1D4E44"/>
                </a:solidFill>
                <a:latin typeface="Segoe UI Semibold"/>
              </a:rPr>
              <a:t>A working prototype, running end to end today</a:t>
            </a:r>
          </a:p>
        </p:txBody>
      </p:sp>
      <p:sp>
        <p:nvSpPr>
          <p:cNvPr id="6" name="Rectangle 5"/>
          <p:cNvSpPr/>
          <p:nvPr/>
        </p:nvSpPr>
        <p:spPr>
          <a:xfrm>
            <a:off x="676656" y="1243584"/>
            <a:ext cx="10835640" cy="13970"/>
          </a:xfrm>
          <a:prstGeom prst="rect">
            <a:avLst/>
          </a:prstGeom>
          <a:solidFill>
            <a:srgbClr val="D6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37376"/>
            <a:ext cx="5486400" cy="237744"/>
          </a:xfrm>
          <a:prstGeom prst="rect">
            <a:avLst/>
          </a:prstGeom>
          <a:noFill/>
        </p:spPr>
        <p:txBody>
          <a:bodyPr wrap="square" anchor="t" lIns="0" rIns="0" tIns="0" bIns="0">
            <a:spAutoFit/>
          </a:bodyPr>
          <a:lstStyle/>
          <a:p>
            <a:pPr algn="l">
              <a:lnSpc>
                <a:spcPct val="114000"/>
              </a:lnSpc>
              <a:spcBef>
                <a:spcPts val="0"/>
              </a:spcBef>
              <a:spcAft>
                <a:spcPts val="500"/>
              </a:spcAft>
            </a:pPr>
            <a:r>
              <a:rPr sz="1000" b="1">
                <a:solidFill>
                  <a:srgbClr val="1D4E44"/>
                </a:solidFill>
                <a:latin typeface="Segoe UI Semibold"/>
              </a:rPr>
              <a:t>KrishokChat</a:t>
            </a:r>
            <a:r>
              <a:rPr sz="1000" b="0">
                <a:solidFill>
                  <a:srgbClr val="6B736E"/>
                </a:solidFill>
                <a:latin typeface="Segoe UI"/>
              </a:rPr>
              <a:t>    Innovation Fair Bangladesh</a:t>
            </a:r>
          </a:p>
        </p:txBody>
      </p:sp>
      <p:sp>
        <p:nvSpPr>
          <p:cNvPr id="8" name="TextBox 7"/>
          <p:cNvSpPr txBox="1"/>
          <p:nvPr/>
        </p:nvSpPr>
        <p:spPr>
          <a:xfrm>
            <a:off x="11094415" y="6437376"/>
            <a:ext cx="640080" cy="237744"/>
          </a:xfrm>
          <a:prstGeom prst="rect">
            <a:avLst/>
          </a:prstGeom>
          <a:noFill/>
        </p:spPr>
        <p:txBody>
          <a:bodyPr wrap="square" anchor="t" lIns="0" rIns="0" tIns="0" bIns="0">
            <a:spAutoFit/>
          </a:bodyPr>
          <a:lstStyle/>
          <a:p>
            <a:pPr algn="r">
              <a:lnSpc>
                <a:spcPct val="114000"/>
              </a:lnSpc>
              <a:spcBef>
                <a:spcPts val="0"/>
              </a:spcBef>
              <a:spcAft>
                <a:spcPts val="500"/>
              </a:spcAft>
            </a:pPr>
            <a:r>
              <a:rPr sz="1000" b="0">
                <a:solidFill>
                  <a:srgbClr val="6B736E"/>
                </a:solidFill>
                <a:latin typeface="Segoe UI"/>
              </a:rPr>
              <a:t>5 / 9</a:t>
            </a:r>
          </a:p>
        </p:txBody>
      </p:sp>
      <p:sp>
        <p:nvSpPr>
          <p:cNvPr id="9" name="Rectangle 8"/>
          <p:cNvSpPr/>
          <p:nvPr/>
        </p:nvSpPr>
        <p:spPr>
          <a:xfrm>
            <a:off x="676275" y="1471803"/>
            <a:ext cx="6785610" cy="3827263"/>
          </a:xfrm>
          <a:prstGeom prst="rect">
            <a:avLst/>
          </a:prstGeom>
          <a:noFill/>
          <a:ln w="9525">
            <a:solidFill>
              <a:srgbClr val="D6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re_pipeline.png"/>
          <p:cNvPicPr>
            <a:picLocks noChangeAspect="1"/>
          </p:cNvPicPr>
          <p:nvPr/>
        </p:nvPicPr>
        <p:blipFill>
          <a:blip r:embed="rId2"/>
          <a:stretch>
            <a:fillRect/>
          </a:stretch>
        </p:blipFill>
        <p:spPr>
          <a:xfrm>
            <a:off x="685800" y="1481328"/>
            <a:ext cx="6766560" cy="3808213"/>
          </a:xfrm>
          <a:prstGeom prst="rect">
            <a:avLst/>
          </a:prstGeom>
        </p:spPr>
      </p:pic>
      <p:sp>
        <p:nvSpPr>
          <p:cNvPr id="11" name="TextBox 10"/>
          <p:cNvSpPr txBox="1"/>
          <p:nvPr/>
        </p:nvSpPr>
        <p:spPr>
          <a:xfrm>
            <a:off x="685800" y="5440680"/>
            <a:ext cx="6766560" cy="365760"/>
          </a:xfrm>
          <a:prstGeom prst="rect">
            <a:avLst/>
          </a:prstGeom>
          <a:noFill/>
        </p:spPr>
        <p:txBody>
          <a:bodyPr wrap="square" anchor="t" lIns="0" rIns="0" tIns="0" bIns="0">
            <a:spAutoFit/>
          </a:bodyPr>
          <a:lstStyle/>
          <a:p>
            <a:pPr algn="l">
              <a:lnSpc>
                <a:spcPct val="112000"/>
              </a:lnSpc>
              <a:spcBef>
                <a:spcPts val="0"/>
              </a:spcBef>
              <a:spcAft>
                <a:spcPts val="500"/>
              </a:spcAft>
            </a:pPr>
            <a:r>
              <a:rPr sz="1050" b="0">
                <a:solidFill>
                  <a:srgbClr val="6B736E"/>
                </a:solidFill>
                <a:latin typeface="Segoe UI"/>
              </a:rPr>
              <a:t>The core pipeline, with vision, field intelligence, and the sensor and drone layer feeding the same advisory surface.</a:t>
            </a:r>
          </a:p>
        </p:txBody>
      </p:sp>
      <p:sp>
        <p:nvSpPr>
          <p:cNvPr id="12" name="TextBox 11"/>
          <p:cNvSpPr txBox="1"/>
          <p:nvPr/>
        </p:nvSpPr>
        <p:spPr>
          <a:xfrm>
            <a:off x="7772400" y="1481328"/>
            <a:ext cx="3749039" cy="292608"/>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WHAT ALREADY WORKS</a:t>
            </a:r>
          </a:p>
        </p:txBody>
      </p:sp>
      <p:sp>
        <p:nvSpPr>
          <p:cNvPr id="13" name="TextBox 12"/>
          <p:cNvSpPr txBox="1"/>
          <p:nvPr/>
        </p:nvSpPr>
        <p:spPr>
          <a:xfrm>
            <a:off x="7772400" y="1847088"/>
            <a:ext cx="3749039" cy="274320"/>
          </a:xfrm>
          <a:prstGeom prst="rect">
            <a:avLst/>
          </a:prstGeom>
          <a:noFill/>
        </p:spPr>
        <p:txBody>
          <a:bodyPr wrap="square" anchor="t" lIns="0" rIns="0" tIns="0" bIns="0">
            <a:spAutoFit/>
          </a:bodyPr>
          <a:lstStyle/>
          <a:p>
            <a:pPr algn="l">
              <a:lnSpc>
                <a:spcPct val="114000"/>
              </a:lnSpc>
              <a:spcBef>
                <a:spcPts val="0"/>
              </a:spcBef>
              <a:spcAft>
                <a:spcPts val="500"/>
              </a:spcAft>
            </a:pPr>
            <a:r>
              <a:rPr sz="1350" b="1">
                <a:solidFill>
                  <a:srgbClr val="1D4E44"/>
                </a:solidFill>
                <a:latin typeface="Segoe UI Semibold"/>
              </a:rPr>
              <a:t>Photo to grounded guidance</a:t>
            </a:r>
          </a:p>
        </p:txBody>
      </p:sp>
      <p:sp>
        <p:nvSpPr>
          <p:cNvPr id="14" name="TextBox 13"/>
          <p:cNvSpPr txBox="1"/>
          <p:nvPr/>
        </p:nvSpPr>
        <p:spPr>
          <a:xfrm>
            <a:off x="7772400" y="2112264"/>
            <a:ext cx="3749039" cy="749808"/>
          </a:xfrm>
          <a:prstGeom prst="rect">
            <a:avLst/>
          </a:prstGeom>
          <a:noFill/>
        </p:spPr>
        <p:txBody>
          <a:bodyPr wrap="square" anchor="t" lIns="0" rIns="0" tIns="0" bIns="0">
            <a:spAutoFit/>
          </a:bodyPr>
          <a:lstStyle/>
          <a:p>
            <a:pPr algn="l">
              <a:lnSpc>
                <a:spcPct val="120000"/>
              </a:lnSpc>
              <a:spcBef>
                <a:spcPts val="0"/>
              </a:spcBef>
              <a:spcAft>
                <a:spcPts val="500"/>
              </a:spcAft>
            </a:pPr>
            <a:r>
              <a:rPr sz="1180" b="0">
                <a:solidFill>
                  <a:srgbClr val="1B2A26"/>
                </a:solidFill>
                <a:latin typeface="Segoe UI"/>
              </a:rPr>
              <a:t>The crop is recognised first, then routed to a crop specific disease model, then matched to treatment guidance from government manuals in one screen.</a:t>
            </a:r>
          </a:p>
        </p:txBody>
      </p:sp>
      <p:sp>
        <p:nvSpPr>
          <p:cNvPr id="15" name="TextBox 14"/>
          <p:cNvSpPr txBox="1"/>
          <p:nvPr/>
        </p:nvSpPr>
        <p:spPr>
          <a:xfrm>
            <a:off x="7772400" y="2834640"/>
            <a:ext cx="3749039" cy="274320"/>
          </a:xfrm>
          <a:prstGeom prst="rect">
            <a:avLst/>
          </a:prstGeom>
          <a:noFill/>
        </p:spPr>
        <p:txBody>
          <a:bodyPr wrap="square" anchor="t" lIns="0" rIns="0" tIns="0" bIns="0">
            <a:spAutoFit/>
          </a:bodyPr>
          <a:lstStyle/>
          <a:p>
            <a:pPr algn="l">
              <a:lnSpc>
                <a:spcPct val="114000"/>
              </a:lnSpc>
              <a:spcBef>
                <a:spcPts val="0"/>
              </a:spcBef>
              <a:spcAft>
                <a:spcPts val="500"/>
              </a:spcAft>
            </a:pPr>
            <a:r>
              <a:rPr sz="1350" b="1">
                <a:solidFill>
                  <a:srgbClr val="1D4E44"/>
                </a:solidFill>
                <a:latin typeface="Segoe UI Semibold"/>
              </a:rPr>
              <a:t>Retrieval over curated knowledge</a:t>
            </a:r>
          </a:p>
        </p:txBody>
      </p:sp>
      <p:sp>
        <p:nvSpPr>
          <p:cNvPr id="16" name="TextBox 15"/>
          <p:cNvSpPr txBox="1"/>
          <p:nvPr/>
        </p:nvSpPr>
        <p:spPr>
          <a:xfrm>
            <a:off x="7772400" y="3099816"/>
            <a:ext cx="3749039" cy="749808"/>
          </a:xfrm>
          <a:prstGeom prst="rect">
            <a:avLst/>
          </a:prstGeom>
          <a:noFill/>
        </p:spPr>
        <p:txBody>
          <a:bodyPr wrap="square" anchor="t" lIns="0" rIns="0" tIns="0" bIns="0">
            <a:spAutoFit/>
          </a:bodyPr>
          <a:lstStyle/>
          <a:p>
            <a:pPr algn="l">
              <a:lnSpc>
                <a:spcPct val="120000"/>
              </a:lnSpc>
              <a:spcBef>
                <a:spcPts val="0"/>
              </a:spcBef>
              <a:spcAft>
                <a:spcPts val="500"/>
              </a:spcAft>
            </a:pPr>
            <a:r>
              <a:rPr sz="1180" b="0">
                <a:solidFill>
                  <a:srgbClr val="1B2A26"/>
                </a:solidFill>
                <a:latin typeface="Segoe UI"/>
              </a:rPr>
              <a:t>BM25 over 2,135 source traced nodes, with hybrid dense retrieval available, so each answer traces to a real passage.</a:t>
            </a:r>
          </a:p>
        </p:txBody>
      </p:sp>
      <p:sp>
        <p:nvSpPr>
          <p:cNvPr id="17" name="TextBox 16"/>
          <p:cNvSpPr txBox="1"/>
          <p:nvPr/>
        </p:nvSpPr>
        <p:spPr>
          <a:xfrm>
            <a:off x="7772400" y="3822192"/>
            <a:ext cx="3749039" cy="274320"/>
          </a:xfrm>
          <a:prstGeom prst="rect">
            <a:avLst/>
          </a:prstGeom>
          <a:noFill/>
        </p:spPr>
        <p:txBody>
          <a:bodyPr wrap="square" anchor="t" lIns="0" rIns="0" tIns="0" bIns="0">
            <a:spAutoFit/>
          </a:bodyPr>
          <a:lstStyle/>
          <a:p>
            <a:pPr algn="l">
              <a:lnSpc>
                <a:spcPct val="114000"/>
              </a:lnSpc>
              <a:spcBef>
                <a:spcPts val="0"/>
              </a:spcBef>
              <a:spcAft>
                <a:spcPts val="500"/>
              </a:spcAft>
            </a:pPr>
            <a:r>
              <a:rPr sz="1350" b="1">
                <a:solidFill>
                  <a:srgbClr val="1D4E44"/>
                </a:solidFill>
                <a:latin typeface="Segoe UI Semibold"/>
              </a:rPr>
              <a:t>More than a chat surface</a:t>
            </a:r>
          </a:p>
        </p:txBody>
      </p:sp>
      <p:sp>
        <p:nvSpPr>
          <p:cNvPr id="18" name="TextBox 17"/>
          <p:cNvSpPr txBox="1"/>
          <p:nvPr/>
        </p:nvSpPr>
        <p:spPr>
          <a:xfrm>
            <a:off x="7772400" y="4087368"/>
            <a:ext cx="3749039" cy="749808"/>
          </a:xfrm>
          <a:prstGeom prst="rect">
            <a:avLst/>
          </a:prstGeom>
          <a:noFill/>
        </p:spPr>
        <p:txBody>
          <a:bodyPr wrap="square" anchor="t" lIns="0" rIns="0" tIns="0" bIns="0">
            <a:spAutoFit/>
          </a:bodyPr>
          <a:lstStyle/>
          <a:p>
            <a:pPr algn="l">
              <a:lnSpc>
                <a:spcPct val="120000"/>
              </a:lnSpc>
              <a:spcBef>
                <a:spcPts val="0"/>
              </a:spcBef>
              <a:spcAft>
                <a:spcPts val="500"/>
              </a:spcAft>
            </a:pPr>
            <a:r>
              <a:rPr sz="1180" b="0">
                <a:solidFill>
                  <a:srgbClr val="1B2A26"/>
                </a:solidFill>
                <a:latin typeface="Segoe UI"/>
              </a:rPr>
              <a:t>Soil and irrigation image analysis, sensor based insect prediction, and a drone field view all report into the same assistant.</a:t>
            </a:r>
          </a:p>
        </p:txBody>
      </p:sp>
      <p:sp>
        <p:nvSpPr>
          <p:cNvPr id="19" name="TextBox 18"/>
          <p:cNvSpPr txBox="1"/>
          <p:nvPr/>
        </p:nvSpPr>
        <p:spPr>
          <a:xfrm>
            <a:off x="7772400" y="4809744"/>
            <a:ext cx="3749039" cy="274320"/>
          </a:xfrm>
          <a:prstGeom prst="rect">
            <a:avLst/>
          </a:prstGeom>
          <a:noFill/>
        </p:spPr>
        <p:txBody>
          <a:bodyPr wrap="square" anchor="t" lIns="0" rIns="0" tIns="0" bIns="0">
            <a:spAutoFit/>
          </a:bodyPr>
          <a:lstStyle/>
          <a:p>
            <a:pPr algn="l">
              <a:lnSpc>
                <a:spcPct val="114000"/>
              </a:lnSpc>
              <a:spcBef>
                <a:spcPts val="0"/>
              </a:spcBef>
              <a:spcAft>
                <a:spcPts val="500"/>
              </a:spcAft>
            </a:pPr>
            <a:r>
              <a:rPr sz="1350" b="1">
                <a:solidFill>
                  <a:srgbClr val="1D4E44"/>
                </a:solidFill>
                <a:latin typeface="Segoe UI Semibold"/>
              </a:rPr>
              <a:t>Engineered to stay correct</a:t>
            </a:r>
          </a:p>
        </p:txBody>
      </p:sp>
      <p:sp>
        <p:nvSpPr>
          <p:cNvPr id="20" name="TextBox 19"/>
          <p:cNvSpPr txBox="1"/>
          <p:nvPr/>
        </p:nvSpPr>
        <p:spPr>
          <a:xfrm>
            <a:off x="7772400" y="5074920"/>
            <a:ext cx="3749039" cy="749808"/>
          </a:xfrm>
          <a:prstGeom prst="rect">
            <a:avLst/>
          </a:prstGeom>
          <a:noFill/>
        </p:spPr>
        <p:txBody>
          <a:bodyPr wrap="square" anchor="t" lIns="0" rIns="0" tIns="0" bIns="0">
            <a:spAutoFit/>
          </a:bodyPr>
          <a:lstStyle/>
          <a:p>
            <a:pPr algn="l">
              <a:lnSpc>
                <a:spcPct val="120000"/>
              </a:lnSpc>
              <a:spcBef>
                <a:spcPts val="0"/>
              </a:spcBef>
              <a:spcAft>
                <a:spcPts val="500"/>
              </a:spcAft>
            </a:pPr>
            <a:r>
              <a:rPr sz="1180" b="0">
                <a:solidFill>
                  <a:srgbClr val="1B2A26"/>
                </a:solidFill>
                <a:latin typeface="Segoe UI"/>
              </a:rPr>
              <a:t>A fixed regression baseline and a replay set guard every change, which is what separates a maintainable pilot from a fragile demo.</a:t>
            </a:r>
          </a:p>
        </p:txBody>
      </p:sp>
      <p:sp>
        <p:nvSpPr>
          <p:cNvPr id="21" name="Rectangle 20"/>
          <p:cNvSpPr/>
          <p:nvPr/>
        </p:nvSpPr>
        <p:spPr>
          <a:xfrm>
            <a:off x="685800" y="5806440"/>
            <a:ext cx="10835640" cy="12700"/>
          </a:xfrm>
          <a:prstGeom prst="rect">
            <a:avLst/>
          </a:prstGeom>
          <a:solidFill>
            <a:srgbClr val="D6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943600"/>
            <a:ext cx="2002536" cy="365760"/>
          </a:xfrm>
          <a:prstGeom prst="rect">
            <a:avLst/>
          </a:prstGeom>
          <a:noFill/>
        </p:spPr>
        <p:txBody>
          <a:bodyPr wrap="square" anchor="t" lIns="0" rIns="0" tIns="0" bIns="0">
            <a:spAutoFit/>
          </a:bodyPr>
          <a:lstStyle/>
          <a:p>
            <a:pPr algn="l">
              <a:lnSpc>
                <a:spcPct val="114000"/>
              </a:lnSpc>
              <a:spcBef>
                <a:spcPts val="0"/>
              </a:spcBef>
              <a:spcAft>
                <a:spcPts val="500"/>
              </a:spcAft>
            </a:pPr>
            <a:r>
              <a:rPr sz="2000" b="1">
                <a:solidFill>
                  <a:srgbClr val="1D4E44"/>
                </a:solidFill>
                <a:latin typeface="Segoe UI Semibold"/>
              </a:rPr>
              <a:t>410 / 0</a:t>
            </a:r>
          </a:p>
        </p:txBody>
      </p:sp>
      <p:sp>
        <p:nvSpPr>
          <p:cNvPr id="23" name="TextBox 22"/>
          <p:cNvSpPr txBox="1"/>
          <p:nvPr/>
        </p:nvSpPr>
        <p:spPr>
          <a:xfrm>
            <a:off x="685800" y="6272784"/>
            <a:ext cx="2002536" cy="457200"/>
          </a:xfrm>
          <a:prstGeom prst="rect">
            <a:avLst/>
          </a:prstGeom>
          <a:noFill/>
        </p:spPr>
        <p:txBody>
          <a:bodyPr wrap="square" anchor="t" lIns="0" rIns="0" tIns="0" bIns="0">
            <a:spAutoFit/>
          </a:bodyPr>
          <a:lstStyle/>
          <a:p>
            <a:pPr algn="l">
              <a:lnSpc>
                <a:spcPct val="106000"/>
              </a:lnSpc>
              <a:spcBef>
                <a:spcPts val="0"/>
              </a:spcBef>
              <a:spcAft>
                <a:spcPts val="500"/>
              </a:spcAft>
            </a:pPr>
            <a:r>
              <a:rPr sz="1050" b="0">
                <a:solidFill>
                  <a:srgbClr val="6B736E"/>
                </a:solidFill>
                <a:latin typeface="Segoe UI"/>
              </a:rPr>
              <a:t>automated tests passing and failing</a:t>
            </a:r>
          </a:p>
        </p:txBody>
      </p:sp>
      <p:sp>
        <p:nvSpPr>
          <p:cNvPr id="24" name="Rectangle 23"/>
          <p:cNvSpPr/>
          <p:nvPr/>
        </p:nvSpPr>
        <p:spPr>
          <a:xfrm>
            <a:off x="2724912" y="5971032"/>
            <a:ext cx="11430" cy="603504"/>
          </a:xfrm>
          <a:prstGeom prst="rect">
            <a:avLst/>
          </a:prstGeom>
          <a:solidFill>
            <a:srgbClr val="D6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52928" y="5943600"/>
            <a:ext cx="2002536" cy="365760"/>
          </a:xfrm>
          <a:prstGeom prst="rect">
            <a:avLst/>
          </a:prstGeom>
          <a:noFill/>
        </p:spPr>
        <p:txBody>
          <a:bodyPr wrap="square" anchor="t" lIns="0" rIns="0" tIns="0" bIns="0">
            <a:spAutoFit/>
          </a:bodyPr>
          <a:lstStyle/>
          <a:p>
            <a:pPr algn="l">
              <a:lnSpc>
                <a:spcPct val="114000"/>
              </a:lnSpc>
              <a:spcBef>
                <a:spcPts val="0"/>
              </a:spcBef>
              <a:spcAft>
                <a:spcPts val="500"/>
              </a:spcAft>
            </a:pPr>
            <a:r>
              <a:rPr sz="2000" b="1">
                <a:solidFill>
                  <a:srgbClr val="1D4E44"/>
                </a:solidFill>
                <a:latin typeface="Segoe UI Semibold"/>
              </a:rPr>
              <a:t>50 / 50</a:t>
            </a:r>
          </a:p>
        </p:txBody>
      </p:sp>
      <p:sp>
        <p:nvSpPr>
          <p:cNvPr id="26" name="TextBox 25"/>
          <p:cNvSpPr txBox="1"/>
          <p:nvPr/>
        </p:nvSpPr>
        <p:spPr>
          <a:xfrm>
            <a:off x="2852928" y="6272784"/>
            <a:ext cx="2002536" cy="457200"/>
          </a:xfrm>
          <a:prstGeom prst="rect">
            <a:avLst/>
          </a:prstGeom>
          <a:noFill/>
        </p:spPr>
        <p:txBody>
          <a:bodyPr wrap="square" anchor="t" lIns="0" rIns="0" tIns="0" bIns="0">
            <a:spAutoFit/>
          </a:bodyPr>
          <a:lstStyle/>
          <a:p>
            <a:pPr algn="l">
              <a:lnSpc>
                <a:spcPct val="106000"/>
              </a:lnSpc>
              <a:spcBef>
                <a:spcPts val="0"/>
              </a:spcBef>
              <a:spcAft>
                <a:spcPts val="500"/>
              </a:spcAft>
            </a:pPr>
            <a:r>
              <a:rPr sz="1050" b="0">
                <a:solidFill>
                  <a:srgbClr val="6B736E"/>
                </a:solidFill>
                <a:latin typeface="Segoe UI"/>
              </a:rPr>
              <a:t>fixed scenarios reproduced exactly</a:t>
            </a:r>
          </a:p>
        </p:txBody>
      </p:sp>
      <p:sp>
        <p:nvSpPr>
          <p:cNvPr id="27" name="Rectangle 26"/>
          <p:cNvSpPr/>
          <p:nvPr/>
        </p:nvSpPr>
        <p:spPr>
          <a:xfrm>
            <a:off x="4892040" y="5971032"/>
            <a:ext cx="11430" cy="603504"/>
          </a:xfrm>
          <a:prstGeom prst="rect">
            <a:avLst/>
          </a:prstGeom>
          <a:solidFill>
            <a:srgbClr val="D6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0056" y="5943600"/>
            <a:ext cx="2002536" cy="365760"/>
          </a:xfrm>
          <a:prstGeom prst="rect">
            <a:avLst/>
          </a:prstGeom>
          <a:noFill/>
        </p:spPr>
        <p:txBody>
          <a:bodyPr wrap="square" anchor="t" lIns="0" rIns="0" tIns="0" bIns="0">
            <a:spAutoFit/>
          </a:bodyPr>
          <a:lstStyle/>
          <a:p>
            <a:pPr algn="l">
              <a:lnSpc>
                <a:spcPct val="114000"/>
              </a:lnSpc>
              <a:spcBef>
                <a:spcPts val="0"/>
              </a:spcBef>
              <a:spcAft>
                <a:spcPts val="500"/>
              </a:spcAft>
            </a:pPr>
            <a:r>
              <a:rPr sz="2000" b="1">
                <a:solidFill>
                  <a:srgbClr val="1D4E44"/>
                </a:solidFill>
                <a:latin typeface="Segoe UI Semibold"/>
              </a:rPr>
              <a:t>2,135</a:t>
            </a:r>
          </a:p>
        </p:txBody>
      </p:sp>
      <p:sp>
        <p:nvSpPr>
          <p:cNvPr id="29" name="TextBox 28"/>
          <p:cNvSpPr txBox="1"/>
          <p:nvPr/>
        </p:nvSpPr>
        <p:spPr>
          <a:xfrm>
            <a:off x="5020056" y="6272784"/>
            <a:ext cx="2002536" cy="457200"/>
          </a:xfrm>
          <a:prstGeom prst="rect">
            <a:avLst/>
          </a:prstGeom>
          <a:noFill/>
        </p:spPr>
        <p:txBody>
          <a:bodyPr wrap="square" anchor="t" lIns="0" rIns="0" tIns="0" bIns="0">
            <a:spAutoFit/>
          </a:bodyPr>
          <a:lstStyle/>
          <a:p>
            <a:pPr algn="l">
              <a:lnSpc>
                <a:spcPct val="106000"/>
              </a:lnSpc>
              <a:spcBef>
                <a:spcPts val="0"/>
              </a:spcBef>
              <a:spcAft>
                <a:spcPts val="500"/>
              </a:spcAft>
            </a:pPr>
            <a:r>
              <a:rPr sz="1050" b="0">
                <a:solidFill>
                  <a:srgbClr val="6B736E"/>
                </a:solidFill>
                <a:latin typeface="Segoe UI"/>
              </a:rPr>
              <a:t>source traced knowledge nodes</a:t>
            </a:r>
          </a:p>
        </p:txBody>
      </p:sp>
      <p:sp>
        <p:nvSpPr>
          <p:cNvPr id="30" name="Rectangle 29"/>
          <p:cNvSpPr/>
          <p:nvPr/>
        </p:nvSpPr>
        <p:spPr>
          <a:xfrm>
            <a:off x="7059168" y="5971032"/>
            <a:ext cx="11430" cy="603504"/>
          </a:xfrm>
          <a:prstGeom prst="rect">
            <a:avLst/>
          </a:prstGeom>
          <a:solidFill>
            <a:srgbClr val="D6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87184" y="5943600"/>
            <a:ext cx="2002536" cy="365760"/>
          </a:xfrm>
          <a:prstGeom prst="rect">
            <a:avLst/>
          </a:prstGeom>
          <a:noFill/>
        </p:spPr>
        <p:txBody>
          <a:bodyPr wrap="square" anchor="t" lIns="0" rIns="0" tIns="0" bIns="0">
            <a:spAutoFit/>
          </a:bodyPr>
          <a:lstStyle/>
          <a:p>
            <a:pPr algn="l">
              <a:lnSpc>
                <a:spcPct val="114000"/>
              </a:lnSpc>
              <a:spcBef>
                <a:spcPts val="0"/>
              </a:spcBef>
              <a:spcAft>
                <a:spcPts val="500"/>
              </a:spcAft>
            </a:pPr>
            <a:r>
              <a:rPr sz="2000" b="1">
                <a:solidFill>
                  <a:srgbClr val="1D4E44"/>
                </a:solidFill>
                <a:latin typeface="Segoe UI Semibold"/>
              </a:rPr>
              <a:t>20,112</a:t>
            </a:r>
          </a:p>
        </p:txBody>
      </p:sp>
      <p:sp>
        <p:nvSpPr>
          <p:cNvPr id="32" name="TextBox 31"/>
          <p:cNvSpPr txBox="1"/>
          <p:nvPr/>
        </p:nvSpPr>
        <p:spPr>
          <a:xfrm>
            <a:off x="7187184" y="6272784"/>
            <a:ext cx="2002536" cy="457200"/>
          </a:xfrm>
          <a:prstGeom prst="rect">
            <a:avLst/>
          </a:prstGeom>
          <a:noFill/>
        </p:spPr>
        <p:txBody>
          <a:bodyPr wrap="square" anchor="t" lIns="0" rIns="0" tIns="0" bIns="0">
            <a:spAutoFit/>
          </a:bodyPr>
          <a:lstStyle/>
          <a:p>
            <a:pPr algn="l">
              <a:lnSpc>
                <a:spcPct val="106000"/>
              </a:lnSpc>
              <a:spcBef>
                <a:spcPts val="0"/>
              </a:spcBef>
              <a:spcAft>
                <a:spcPts val="500"/>
              </a:spcAft>
            </a:pPr>
            <a:r>
              <a:rPr sz="1050" b="0">
                <a:solidFill>
                  <a:srgbClr val="6B736E"/>
                </a:solidFill>
                <a:latin typeface="Segoe UI"/>
              </a:rPr>
              <a:t>safety records, 12 risk categories</a:t>
            </a:r>
          </a:p>
        </p:txBody>
      </p:sp>
      <p:sp>
        <p:nvSpPr>
          <p:cNvPr id="33" name="Rectangle 32"/>
          <p:cNvSpPr/>
          <p:nvPr/>
        </p:nvSpPr>
        <p:spPr>
          <a:xfrm>
            <a:off x="9226296" y="5971032"/>
            <a:ext cx="11430" cy="603504"/>
          </a:xfrm>
          <a:prstGeom prst="rect">
            <a:avLst/>
          </a:prstGeom>
          <a:solidFill>
            <a:srgbClr val="D6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54312" y="5943600"/>
            <a:ext cx="2002536" cy="365760"/>
          </a:xfrm>
          <a:prstGeom prst="rect">
            <a:avLst/>
          </a:prstGeom>
          <a:noFill/>
        </p:spPr>
        <p:txBody>
          <a:bodyPr wrap="square" anchor="t" lIns="0" rIns="0" tIns="0" bIns="0">
            <a:spAutoFit/>
          </a:bodyPr>
          <a:lstStyle/>
          <a:p>
            <a:pPr algn="l">
              <a:lnSpc>
                <a:spcPct val="114000"/>
              </a:lnSpc>
              <a:spcBef>
                <a:spcPts val="0"/>
              </a:spcBef>
              <a:spcAft>
                <a:spcPts val="500"/>
              </a:spcAft>
            </a:pPr>
            <a:r>
              <a:rPr sz="2000" b="1">
                <a:solidFill>
                  <a:srgbClr val="1D4E44"/>
                </a:solidFill>
                <a:latin typeface="Segoe UI Semibold"/>
              </a:rPr>
              <a:t>6</a:t>
            </a:r>
          </a:p>
        </p:txBody>
      </p:sp>
      <p:sp>
        <p:nvSpPr>
          <p:cNvPr id="35" name="TextBox 34"/>
          <p:cNvSpPr txBox="1"/>
          <p:nvPr/>
        </p:nvSpPr>
        <p:spPr>
          <a:xfrm>
            <a:off x="9354312" y="6272784"/>
            <a:ext cx="2002536" cy="457200"/>
          </a:xfrm>
          <a:prstGeom prst="rect">
            <a:avLst/>
          </a:prstGeom>
          <a:noFill/>
        </p:spPr>
        <p:txBody>
          <a:bodyPr wrap="square" anchor="t" lIns="0" rIns="0" tIns="0" bIns="0">
            <a:spAutoFit/>
          </a:bodyPr>
          <a:lstStyle/>
          <a:p>
            <a:pPr algn="l">
              <a:lnSpc>
                <a:spcPct val="106000"/>
              </a:lnSpc>
              <a:spcBef>
                <a:spcPts val="0"/>
              </a:spcBef>
              <a:spcAft>
                <a:spcPts val="500"/>
              </a:spcAft>
            </a:pPr>
            <a:r>
              <a:rPr sz="1050" b="0">
                <a:solidFill>
                  <a:srgbClr val="6B736E"/>
                </a:solidFill>
                <a:latin typeface="Segoe UI"/>
              </a:rPr>
              <a:t>Bengali dialects, 110 word map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7150" cy="6858000"/>
          </a:xfrm>
          <a:prstGeom prst="rect">
            <a:avLst/>
          </a:prstGeom>
          <a:solidFill>
            <a:srgbClr val="1D4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515600" cy="274320"/>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ETHICS AND SAFETY</a:t>
            </a:r>
          </a:p>
        </p:txBody>
      </p:sp>
      <p:sp>
        <p:nvSpPr>
          <p:cNvPr id="5" name="TextBox 4"/>
          <p:cNvSpPr txBox="1"/>
          <p:nvPr/>
        </p:nvSpPr>
        <p:spPr>
          <a:xfrm>
            <a:off x="658368" y="658368"/>
            <a:ext cx="10972800" cy="566928"/>
          </a:xfrm>
          <a:prstGeom prst="rect">
            <a:avLst/>
          </a:prstGeom>
          <a:noFill/>
        </p:spPr>
        <p:txBody>
          <a:bodyPr wrap="square" anchor="t" lIns="0" rIns="0" tIns="0" bIns="0">
            <a:spAutoFit/>
          </a:bodyPr>
          <a:lstStyle/>
          <a:p>
            <a:pPr algn="l">
              <a:lnSpc>
                <a:spcPct val="114000"/>
              </a:lnSpc>
              <a:spcBef>
                <a:spcPts val="0"/>
              </a:spcBef>
              <a:spcAft>
                <a:spcPts val="500"/>
              </a:spcAft>
            </a:pPr>
            <a:r>
              <a:rPr sz="2600" b="1">
                <a:solidFill>
                  <a:srgbClr val="1D4E44"/>
                </a:solidFill>
                <a:latin typeface="Segoe UI Semibold"/>
              </a:rPr>
              <a:t>Refusing well is a feature, not a limitation</a:t>
            </a:r>
          </a:p>
        </p:txBody>
      </p:sp>
      <p:sp>
        <p:nvSpPr>
          <p:cNvPr id="6" name="Rectangle 5"/>
          <p:cNvSpPr/>
          <p:nvPr/>
        </p:nvSpPr>
        <p:spPr>
          <a:xfrm>
            <a:off x="676656" y="1243584"/>
            <a:ext cx="10835640" cy="13970"/>
          </a:xfrm>
          <a:prstGeom prst="rect">
            <a:avLst/>
          </a:prstGeom>
          <a:solidFill>
            <a:srgbClr val="D6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37376"/>
            <a:ext cx="5486400" cy="237744"/>
          </a:xfrm>
          <a:prstGeom prst="rect">
            <a:avLst/>
          </a:prstGeom>
          <a:noFill/>
        </p:spPr>
        <p:txBody>
          <a:bodyPr wrap="square" anchor="t" lIns="0" rIns="0" tIns="0" bIns="0">
            <a:spAutoFit/>
          </a:bodyPr>
          <a:lstStyle/>
          <a:p>
            <a:pPr algn="l">
              <a:lnSpc>
                <a:spcPct val="114000"/>
              </a:lnSpc>
              <a:spcBef>
                <a:spcPts val="0"/>
              </a:spcBef>
              <a:spcAft>
                <a:spcPts val="500"/>
              </a:spcAft>
            </a:pPr>
            <a:r>
              <a:rPr sz="1000" b="1">
                <a:solidFill>
                  <a:srgbClr val="1D4E44"/>
                </a:solidFill>
                <a:latin typeface="Segoe UI Semibold"/>
              </a:rPr>
              <a:t>KrishokChat</a:t>
            </a:r>
            <a:r>
              <a:rPr sz="1000" b="0">
                <a:solidFill>
                  <a:srgbClr val="6B736E"/>
                </a:solidFill>
                <a:latin typeface="Segoe UI"/>
              </a:rPr>
              <a:t>    Innovation Fair Bangladesh</a:t>
            </a:r>
          </a:p>
        </p:txBody>
      </p:sp>
      <p:sp>
        <p:nvSpPr>
          <p:cNvPr id="8" name="TextBox 7"/>
          <p:cNvSpPr txBox="1"/>
          <p:nvPr/>
        </p:nvSpPr>
        <p:spPr>
          <a:xfrm>
            <a:off x="11094415" y="6437376"/>
            <a:ext cx="640080" cy="237744"/>
          </a:xfrm>
          <a:prstGeom prst="rect">
            <a:avLst/>
          </a:prstGeom>
          <a:noFill/>
        </p:spPr>
        <p:txBody>
          <a:bodyPr wrap="square" anchor="t" lIns="0" rIns="0" tIns="0" bIns="0">
            <a:spAutoFit/>
          </a:bodyPr>
          <a:lstStyle/>
          <a:p>
            <a:pPr algn="r">
              <a:lnSpc>
                <a:spcPct val="114000"/>
              </a:lnSpc>
              <a:spcBef>
                <a:spcPts val="0"/>
              </a:spcBef>
              <a:spcAft>
                <a:spcPts val="500"/>
              </a:spcAft>
            </a:pPr>
            <a:r>
              <a:rPr sz="1000" b="0">
                <a:solidFill>
                  <a:srgbClr val="6B736E"/>
                </a:solidFill>
                <a:latin typeface="Segoe UI"/>
              </a:rPr>
              <a:t>6 / 9</a:t>
            </a:r>
          </a:p>
        </p:txBody>
      </p:sp>
      <p:sp>
        <p:nvSpPr>
          <p:cNvPr id="9" name="Rectangle 8"/>
          <p:cNvSpPr/>
          <p:nvPr/>
        </p:nvSpPr>
        <p:spPr>
          <a:xfrm>
            <a:off x="676275" y="1471803"/>
            <a:ext cx="6259830" cy="4179570"/>
          </a:xfrm>
          <a:prstGeom prst="rect">
            <a:avLst/>
          </a:prstGeom>
          <a:noFill/>
          <a:ln w="9525">
            <a:solidFill>
              <a:srgbClr val="D6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afety_g.png"/>
          <p:cNvPicPr>
            <a:picLocks noChangeAspect="1"/>
          </p:cNvPicPr>
          <p:nvPr/>
        </p:nvPicPr>
        <p:blipFill>
          <a:blip r:embed="rId2"/>
          <a:stretch>
            <a:fillRect/>
          </a:stretch>
        </p:blipFill>
        <p:spPr>
          <a:xfrm>
            <a:off x="685800" y="1481328"/>
            <a:ext cx="6240780" cy="4160520"/>
          </a:xfrm>
          <a:prstGeom prst="rect">
            <a:avLst/>
          </a:prstGeom>
        </p:spPr>
      </p:pic>
      <p:sp>
        <p:nvSpPr>
          <p:cNvPr id="11" name="TextBox 10"/>
          <p:cNvSpPr txBox="1"/>
          <p:nvPr/>
        </p:nvSpPr>
        <p:spPr>
          <a:xfrm>
            <a:off x="685800" y="5760720"/>
            <a:ext cx="6263640" cy="365760"/>
          </a:xfrm>
          <a:prstGeom prst="rect">
            <a:avLst/>
          </a:prstGeom>
          <a:noFill/>
        </p:spPr>
        <p:txBody>
          <a:bodyPr wrap="square" anchor="t" lIns="0" rIns="0" tIns="0" bIns="0">
            <a:spAutoFit/>
          </a:bodyPr>
          <a:lstStyle/>
          <a:p>
            <a:pPr algn="l">
              <a:lnSpc>
                <a:spcPct val="112000"/>
              </a:lnSpc>
              <a:spcBef>
                <a:spcPts val="0"/>
              </a:spcBef>
              <a:spcAft>
                <a:spcPts val="500"/>
              </a:spcAft>
            </a:pPr>
            <a:r>
              <a:rPr sz="1050" b="0">
                <a:solidFill>
                  <a:srgbClr val="6B736E"/>
                </a:solidFill>
                <a:latin typeface="Segoe UI"/>
              </a:rPr>
              <a:t>What is blocked before retrieval, and how a numeric claim is verified before release.</a:t>
            </a:r>
          </a:p>
        </p:txBody>
      </p:sp>
      <p:sp>
        <p:nvSpPr>
          <p:cNvPr id="12" name="TextBox 11"/>
          <p:cNvSpPr txBox="1"/>
          <p:nvPr/>
        </p:nvSpPr>
        <p:spPr>
          <a:xfrm>
            <a:off x="7315200" y="1481328"/>
            <a:ext cx="4206240" cy="292608"/>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WHY IT IS SAFE TO DEPLOY</a:t>
            </a:r>
          </a:p>
        </p:txBody>
      </p:sp>
      <p:sp>
        <p:nvSpPr>
          <p:cNvPr id="13" name="Rectangle 12"/>
          <p:cNvSpPr/>
          <p:nvPr/>
        </p:nvSpPr>
        <p:spPr>
          <a:xfrm>
            <a:off x="7315200" y="1892808"/>
            <a:ext cx="38100" cy="192024"/>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16368" y="1847088"/>
            <a:ext cx="3977640" cy="274320"/>
          </a:xfrm>
          <a:prstGeom prst="rect">
            <a:avLst/>
          </a:prstGeom>
          <a:noFill/>
        </p:spPr>
        <p:txBody>
          <a:bodyPr wrap="square" anchor="t" lIns="0" rIns="0" tIns="0" bIns="0">
            <a:spAutoFit/>
          </a:bodyPr>
          <a:lstStyle/>
          <a:p>
            <a:pPr algn="l">
              <a:lnSpc>
                <a:spcPct val="114000"/>
              </a:lnSpc>
              <a:spcBef>
                <a:spcPts val="0"/>
              </a:spcBef>
              <a:spcAft>
                <a:spcPts val="500"/>
              </a:spcAft>
            </a:pPr>
            <a:r>
              <a:rPr sz="1400" b="1">
                <a:solidFill>
                  <a:srgbClr val="1D4E44"/>
                </a:solidFill>
                <a:latin typeface="Segoe UI Semibold"/>
              </a:rPr>
              <a:t>Safety runs before retrieval</a:t>
            </a:r>
          </a:p>
        </p:txBody>
      </p:sp>
      <p:sp>
        <p:nvSpPr>
          <p:cNvPr id="15" name="TextBox 14"/>
          <p:cNvSpPr txBox="1"/>
          <p:nvPr/>
        </p:nvSpPr>
        <p:spPr>
          <a:xfrm>
            <a:off x="7516368" y="2112264"/>
            <a:ext cx="3977640" cy="768096"/>
          </a:xfrm>
          <a:prstGeom prst="rect">
            <a:avLst/>
          </a:prstGeom>
          <a:noFill/>
        </p:spPr>
        <p:txBody>
          <a:bodyPr wrap="square" anchor="t" lIns="0" rIns="0" tIns="0" bIns="0">
            <a:spAutoFit/>
          </a:bodyPr>
          <a:lstStyle/>
          <a:p>
            <a:pPr algn="l">
              <a:lnSpc>
                <a:spcPct val="120000"/>
              </a:lnSpc>
              <a:spcBef>
                <a:spcPts val="0"/>
              </a:spcBef>
              <a:spcAft>
                <a:spcPts val="500"/>
              </a:spcAft>
            </a:pPr>
            <a:r>
              <a:rPr sz="1230" b="0">
                <a:solidFill>
                  <a:srgbClr val="1B2A26"/>
                </a:solidFill>
                <a:latin typeface="Segoe UI"/>
              </a:rPr>
              <a:t>Restricted and banned agrochemical requests are caught against a Bangladesh specific registry before any answer is formed.</a:t>
            </a:r>
          </a:p>
        </p:txBody>
      </p:sp>
      <p:sp>
        <p:nvSpPr>
          <p:cNvPr id="16" name="Rectangle 15"/>
          <p:cNvSpPr/>
          <p:nvPr/>
        </p:nvSpPr>
        <p:spPr>
          <a:xfrm>
            <a:off x="7315200" y="2926079"/>
            <a:ext cx="38100" cy="192024"/>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6368" y="2880359"/>
            <a:ext cx="3977640" cy="274320"/>
          </a:xfrm>
          <a:prstGeom prst="rect">
            <a:avLst/>
          </a:prstGeom>
          <a:noFill/>
        </p:spPr>
        <p:txBody>
          <a:bodyPr wrap="square" anchor="t" lIns="0" rIns="0" tIns="0" bIns="0">
            <a:spAutoFit/>
          </a:bodyPr>
          <a:lstStyle/>
          <a:p>
            <a:pPr algn="l">
              <a:lnSpc>
                <a:spcPct val="114000"/>
              </a:lnSpc>
              <a:spcBef>
                <a:spcPts val="0"/>
              </a:spcBef>
              <a:spcAft>
                <a:spcPts val="500"/>
              </a:spcAft>
            </a:pPr>
            <a:r>
              <a:rPr sz="1400" b="1">
                <a:solidFill>
                  <a:srgbClr val="1D4E44"/>
                </a:solidFill>
                <a:latin typeface="Segoe UI Semibold"/>
              </a:rPr>
              <a:t>Every dose is checked against its source</a:t>
            </a:r>
          </a:p>
        </p:txBody>
      </p:sp>
      <p:sp>
        <p:nvSpPr>
          <p:cNvPr id="18" name="TextBox 17"/>
          <p:cNvSpPr txBox="1"/>
          <p:nvPr/>
        </p:nvSpPr>
        <p:spPr>
          <a:xfrm>
            <a:off x="7516368" y="3145535"/>
            <a:ext cx="3977640" cy="768096"/>
          </a:xfrm>
          <a:prstGeom prst="rect">
            <a:avLst/>
          </a:prstGeom>
          <a:noFill/>
        </p:spPr>
        <p:txBody>
          <a:bodyPr wrap="square" anchor="t" lIns="0" rIns="0" tIns="0" bIns="0">
            <a:spAutoFit/>
          </a:bodyPr>
          <a:lstStyle/>
          <a:p>
            <a:pPr algn="l">
              <a:lnSpc>
                <a:spcPct val="120000"/>
              </a:lnSpc>
              <a:spcBef>
                <a:spcPts val="0"/>
              </a:spcBef>
              <a:spcAft>
                <a:spcPts val="500"/>
              </a:spcAft>
            </a:pPr>
            <a:r>
              <a:rPr sz="1230" b="0">
                <a:solidFill>
                  <a:srgbClr val="1B2A26"/>
                </a:solidFill>
                <a:latin typeface="Segoe UI"/>
              </a:rPr>
              <a:t>Numeric claims are normalised across Bengali and English numerals, then matched to the retrieved passage before the farmer sees them.</a:t>
            </a:r>
          </a:p>
        </p:txBody>
      </p:sp>
      <p:sp>
        <p:nvSpPr>
          <p:cNvPr id="19" name="Rectangle 18"/>
          <p:cNvSpPr/>
          <p:nvPr/>
        </p:nvSpPr>
        <p:spPr>
          <a:xfrm>
            <a:off x="7315200" y="3959350"/>
            <a:ext cx="38100" cy="192024"/>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16368" y="3913630"/>
            <a:ext cx="3977640" cy="274320"/>
          </a:xfrm>
          <a:prstGeom prst="rect">
            <a:avLst/>
          </a:prstGeom>
          <a:noFill/>
        </p:spPr>
        <p:txBody>
          <a:bodyPr wrap="square" anchor="t" lIns="0" rIns="0" tIns="0" bIns="0">
            <a:spAutoFit/>
          </a:bodyPr>
          <a:lstStyle/>
          <a:p>
            <a:pPr algn="l">
              <a:lnSpc>
                <a:spcPct val="114000"/>
              </a:lnSpc>
              <a:spcBef>
                <a:spcPts val="0"/>
              </a:spcBef>
              <a:spcAft>
                <a:spcPts val="500"/>
              </a:spcAft>
            </a:pPr>
            <a:r>
              <a:rPr sz="1400" b="1">
                <a:solidFill>
                  <a:srgbClr val="1D4E44"/>
                </a:solidFill>
                <a:latin typeface="Segoe UI Semibold"/>
              </a:rPr>
              <a:t>A calm response to crisis framing</a:t>
            </a:r>
          </a:p>
        </p:txBody>
      </p:sp>
      <p:sp>
        <p:nvSpPr>
          <p:cNvPr id="21" name="TextBox 20"/>
          <p:cNvSpPr txBox="1"/>
          <p:nvPr/>
        </p:nvSpPr>
        <p:spPr>
          <a:xfrm>
            <a:off x="7516368" y="4178806"/>
            <a:ext cx="3977640" cy="768096"/>
          </a:xfrm>
          <a:prstGeom prst="rect">
            <a:avLst/>
          </a:prstGeom>
          <a:noFill/>
        </p:spPr>
        <p:txBody>
          <a:bodyPr wrap="square" anchor="t" lIns="0" rIns="0" tIns="0" bIns="0">
            <a:spAutoFit/>
          </a:bodyPr>
          <a:lstStyle/>
          <a:p>
            <a:pPr algn="l">
              <a:lnSpc>
                <a:spcPct val="120000"/>
              </a:lnSpc>
              <a:spcBef>
                <a:spcPts val="0"/>
              </a:spcBef>
              <a:spcAft>
                <a:spcPts val="500"/>
              </a:spcAft>
            </a:pPr>
            <a:r>
              <a:rPr sz="1230" b="0">
                <a:solidFill>
                  <a:srgbClr val="1B2A26"/>
                </a:solidFill>
                <a:latin typeface="Segoe UI"/>
              </a:rPr>
              <a:t>Anything reading as poisoning or self harm risk receives a supportive redirect to 16123 and in person medical help, never a normal answer.</a:t>
            </a:r>
          </a:p>
        </p:txBody>
      </p:sp>
      <p:sp>
        <p:nvSpPr>
          <p:cNvPr id="22" name="Rectangle 21"/>
          <p:cNvSpPr/>
          <p:nvPr/>
        </p:nvSpPr>
        <p:spPr>
          <a:xfrm>
            <a:off x="7315200" y="4992621"/>
            <a:ext cx="38100" cy="192024"/>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16368" y="4946901"/>
            <a:ext cx="3977640" cy="274320"/>
          </a:xfrm>
          <a:prstGeom prst="rect">
            <a:avLst/>
          </a:prstGeom>
          <a:noFill/>
        </p:spPr>
        <p:txBody>
          <a:bodyPr wrap="square" anchor="t" lIns="0" rIns="0" tIns="0" bIns="0">
            <a:spAutoFit/>
          </a:bodyPr>
          <a:lstStyle/>
          <a:p>
            <a:pPr algn="l">
              <a:lnSpc>
                <a:spcPct val="114000"/>
              </a:lnSpc>
              <a:spcBef>
                <a:spcPts val="0"/>
              </a:spcBef>
              <a:spcAft>
                <a:spcPts val="500"/>
              </a:spcAft>
            </a:pPr>
            <a:r>
              <a:rPr sz="1400" b="1">
                <a:solidFill>
                  <a:srgbClr val="1D4E44"/>
                </a:solidFill>
                <a:latin typeface="Segoe UI Semibold"/>
              </a:rPr>
              <a:t>Auditable rather than asserted</a:t>
            </a:r>
          </a:p>
        </p:txBody>
      </p:sp>
      <p:sp>
        <p:nvSpPr>
          <p:cNvPr id="24" name="TextBox 23"/>
          <p:cNvSpPr txBox="1"/>
          <p:nvPr/>
        </p:nvSpPr>
        <p:spPr>
          <a:xfrm>
            <a:off x="7516368" y="5212077"/>
            <a:ext cx="3977640" cy="768096"/>
          </a:xfrm>
          <a:prstGeom prst="rect">
            <a:avLst/>
          </a:prstGeom>
          <a:noFill/>
        </p:spPr>
        <p:txBody>
          <a:bodyPr wrap="square" anchor="t" lIns="0" rIns="0" tIns="0" bIns="0">
            <a:spAutoFit/>
          </a:bodyPr>
          <a:lstStyle/>
          <a:p>
            <a:pPr algn="l">
              <a:lnSpc>
                <a:spcPct val="120000"/>
              </a:lnSpc>
              <a:spcBef>
                <a:spcPts val="0"/>
              </a:spcBef>
              <a:spcAft>
                <a:spcPts val="500"/>
              </a:spcAft>
            </a:pPr>
            <a:r>
              <a:rPr sz="1230" b="0">
                <a:solidFill>
                  <a:srgbClr val="1B2A26"/>
                </a:solidFill>
                <a:latin typeface="Segoe UI"/>
              </a:rPr>
              <a:t>Every request, classification, and verification result is written to a local audit record, kept on the device and never sent to a third party.</a:t>
            </a:r>
          </a:p>
        </p:txBody>
      </p:sp>
      <p:sp>
        <p:nvSpPr>
          <p:cNvPr id="25" name="Rectangle 24"/>
          <p:cNvSpPr/>
          <p:nvPr/>
        </p:nvSpPr>
        <p:spPr>
          <a:xfrm>
            <a:off x="7315200" y="5943600"/>
            <a:ext cx="4206240" cy="12700"/>
          </a:xfrm>
          <a:prstGeom prst="rect">
            <a:avLst/>
          </a:prstGeom>
          <a:solidFill>
            <a:srgbClr val="D6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0" y="6089904"/>
            <a:ext cx="4206240" cy="365760"/>
          </a:xfrm>
          <a:prstGeom prst="rect">
            <a:avLst/>
          </a:prstGeom>
          <a:noFill/>
        </p:spPr>
        <p:txBody>
          <a:bodyPr wrap="square" anchor="t" lIns="0" rIns="0" tIns="0" bIns="0">
            <a:spAutoFit/>
          </a:bodyPr>
          <a:lstStyle/>
          <a:p>
            <a:pPr algn="l">
              <a:lnSpc>
                <a:spcPct val="114000"/>
              </a:lnSpc>
              <a:spcBef>
                <a:spcPts val="0"/>
              </a:spcBef>
              <a:spcAft>
                <a:spcPts val="500"/>
              </a:spcAft>
            </a:pPr>
            <a:r>
              <a:rPr sz="1150" b="0">
                <a:solidFill>
                  <a:srgbClr val="6B736E"/>
                </a:solidFill>
                <a:latin typeface="Segoe UI"/>
              </a:rPr>
              <a:t>Safer chemical use protects the farmer applying it, the family eating the crop, and the water downstream.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7150" cy="6858000"/>
          </a:xfrm>
          <a:prstGeom prst="rect">
            <a:avLst/>
          </a:prstGeom>
          <a:solidFill>
            <a:srgbClr val="1D4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515600" cy="274320"/>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MARKET DEMAND AND COMMERCIALIZATION</a:t>
            </a:r>
          </a:p>
        </p:txBody>
      </p:sp>
      <p:sp>
        <p:nvSpPr>
          <p:cNvPr id="5" name="TextBox 4"/>
          <p:cNvSpPr txBox="1"/>
          <p:nvPr/>
        </p:nvSpPr>
        <p:spPr>
          <a:xfrm>
            <a:off x="658368" y="658368"/>
            <a:ext cx="10972800" cy="566928"/>
          </a:xfrm>
          <a:prstGeom prst="rect">
            <a:avLst/>
          </a:prstGeom>
          <a:noFill/>
        </p:spPr>
        <p:txBody>
          <a:bodyPr wrap="square" anchor="t" lIns="0" rIns="0" tIns="0" bIns="0">
            <a:spAutoFit/>
          </a:bodyPr>
          <a:lstStyle/>
          <a:p>
            <a:pPr algn="l">
              <a:lnSpc>
                <a:spcPct val="114000"/>
              </a:lnSpc>
              <a:spcBef>
                <a:spcPts val="0"/>
              </a:spcBef>
              <a:spcAft>
                <a:spcPts val="500"/>
              </a:spcAft>
            </a:pPr>
            <a:r>
              <a:rPr sz="2600" b="1">
                <a:solidFill>
                  <a:srgbClr val="1D4E44"/>
                </a:solidFill>
                <a:latin typeface="Segoe UI Semibold"/>
              </a:rPr>
              <a:t>A route to revenue that does not price out the farmer</a:t>
            </a:r>
          </a:p>
        </p:txBody>
      </p:sp>
      <p:sp>
        <p:nvSpPr>
          <p:cNvPr id="6" name="Rectangle 5"/>
          <p:cNvSpPr/>
          <p:nvPr/>
        </p:nvSpPr>
        <p:spPr>
          <a:xfrm>
            <a:off x="676656" y="1243584"/>
            <a:ext cx="10835640" cy="13970"/>
          </a:xfrm>
          <a:prstGeom prst="rect">
            <a:avLst/>
          </a:prstGeom>
          <a:solidFill>
            <a:srgbClr val="D6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37376"/>
            <a:ext cx="5486400" cy="237744"/>
          </a:xfrm>
          <a:prstGeom prst="rect">
            <a:avLst/>
          </a:prstGeom>
          <a:noFill/>
        </p:spPr>
        <p:txBody>
          <a:bodyPr wrap="square" anchor="t" lIns="0" rIns="0" tIns="0" bIns="0">
            <a:spAutoFit/>
          </a:bodyPr>
          <a:lstStyle/>
          <a:p>
            <a:pPr algn="l">
              <a:lnSpc>
                <a:spcPct val="114000"/>
              </a:lnSpc>
              <a:spcBef>
                <a:spcPts val="0"/>
              </a:spcBef>
              <a:spcAft>
                <a:spcPts val="500"/>
              </a:spcAft>
            </a:pPr>
            <a:r>
              <a:rPr sz="1000" b="1">
                <a:solidFill>
                  <a:srgbClr val="1D4E44"/>
                </a:solidFill>
                <a:latin typeface="Segoe UI Semibold"/>
              </a:rPr>
              <a:t>KrishokChat</a:t>
            </a:r>
            <a:r>
              <a:rPr sz="1000" b="0">
                <a:solidFill>
                  <a:srgbClr val="6B736E"/>
                </a:solidFill>
                <a:latin typeface="Segoe UI"/>
              </a:rPr>
              <a:t>    Innovation Fair Bangladesh</a:t>
            </a:r>
          </a:p>
        </p:txBody>
      </p:sp>
      <p:sp>
        <p:nvSpPr>
          <p:cNvPr id="8" name="TextBox 7"/>
          <p:cNvSpPr txBox="1"/>
          <p:nvPr/>
        </p:nvSpPr>
        <p:spPr>
          <a:xfrm>
            <a:off x="11094415" y="6437376"/>
            <a:ext cx="640080" cy="237744"/>
          </a:xfrm>
          <a:prstGeom prst="rect">
            <a:avLst/>
          </a:prstGeom>
          <a:noFill/>
        </p:spPr>
        <p:txBody>
          <a:bodyPr wrap="square" anchor="t" lIns="0" rIns="0" tIns="0" bIns="0">
            <a:spAutoFit/>
          </a:bodyPr>
          <a:lstStyle/>
          <a:p>
            <a:pPr algn="r">
              <a:lnSpc>
                <a:spcPct val="114000"/>
              </a:lnSpc>
              <a:spcBef>
                <a:spcPts val="0"/>
              </a:spcBef>
              <a:spcAft>
                <a:spcPts val="500"/>
              </a:spcAft>
            </a:pPr>
            <a:r>
              <a:rPr sz="1000" b="0">
                <a:solidFill>
                  <a:srgbClr val="6B736E"/>
                </a:solidFill>
                <a:latin typeface="Segoe UI"/>
              </a:rPr>
              <a:t>7 / 9</a:t>
            </a:r>
          </a:p>
        </p:txBody>
      </p:sp>
      <p:sp>
        <p:nvSpPr>
          <p:cNvPr id="9" name="Rectangle 8"/>
          <p:cNvSpPr/>
          <p:nvPr/>
        </p:nvSpPr>
        <p:spPr>
          <a:xfrm>
            <a:off x="676275" y="1471803"/>
            <a:ext cx="6557010" cy="3698607"/>
          </a:xfrm>
          <a:prstGeom prst="rect">
            <a:avLst/>
          </a:prstGeom>
          <a:noFill/>
          <a:ln w="9525">
            <a:solidFill>
              <a:srgbClr val="D6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arket opportunity.png"/>
          <p:cNvPicPr>
            <a:picLocks noChangeAspect="1"/>
          </p:cNvPicPr>
          <p:nvPr/>
        </p:nvPicPr>
        <p:blipFill>
          <a:blip r:embed="rId2"/>
          <a:stretch>
            <a:fillRect/>
          </a:stretch>
        </p:blipFill>
        <p:spPr>
          <a:xfrm>
            <a:off x="685800" y="1481328"/>
            <a:ext cx="6537960" cy="3679557"/>
          </a:xfrm>
          <a:prstGeom prst="rect">
            <a:avLst/>
          </a:prstGeom>
        </p:spPr>
      </p:pic>
      <p:sp>
        <p:nvSpPr>
          <p:cNvPr id="11" name="TextBox 10"/>
          <p:cNvSpPr txBox="1"/>
          <p:nvPr/>
        </p:nvSpPr>
        <p:spPr>
          <a:xfrm>
            <a:off x="685800" y="5577840"/>
            <a:ext cx="6537960" cy="365760"/>
          </a:xfrm>
          <a:prstGeom prst="rect">
            <a:avLst/>
          </a:prstGeom>
          <a:noFill/>
        </p:spPr>
        <p:txBody>
          <a:bodyPr wrap="square" anchor="t" lIns="0" rIns="0" tIns="0" bIns="0">
            <a:spAutoFit/>
          </a:bodyPr>
          <a:lstStyle/>
          <a:p>
            <a:pPr algn="l">
              <a:lnSpc>
                <a:spcPct val="112000"/>
              </a:lnSpc>
              <a:spcBef>
                <a:spcPts val="0"/>
              </a:spcBef>
              <a:spcAft>
                <a:spcPts val="500"/>
              </a:spcAft>
            </a:pPr>
            <a:r>
              <a:rPr sz="1050" b="0">
                <a:solidFill>
                  <a:srgbClr val="6B736E"/>
                </a:solidFill>
                <a:latin typeface="Segoe UI"/>
              </a:rPr>
              <a:t>Demand indicators and the three revenue paths, each tied to evidence rather than projection.</a:t>
            </a:r>
          </a:p>
        </p:txBody>
      </p:sp>
      <p:sp>
        <p:nvSpPr>
          <p:cNvPr id="12" name="TextBox 11"/>
          <p:cNvSpPr txBox="1"/>
          <p:nvPr/>
        </p:nvSpPr>
        <p:spPr>
          <a:xfrm>
            <a:off x="7543800" y="1481328"/>
            <a:ext cx="3977639" cy="292608"/>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WHY ADOPTION IS FEASIBLE</a:t>
            </a:r>
          </a:p>
        </p:txBody>
      </p:sp>
      <p:sp>
        <p:nvSpPr>
          <p:cNvPr id="13" name="TextBox 12"/>
          <p:cNvSpPr txBox="1"/>
          <p:nvPr/>
        </p:nvSpPr>
        <p:spPr>
          <a:xfrm>
            <a:off x="7543800" y="1847088"/>
            <a:ext cx="3977639" cy="274320"/>
          </a:xfrm>
          <a:prstGeom prst="rect">
            <a:avLst/>
          </a:prstGeom>
          <a:noFill/>
        </p:spPr>
        <p:txBody>
          <a:bodyPr wrap="square" anchor="t" lIns="0" rIns="0" tIns="0" bIns="0">
            <a:spAutoFit/>
          </a:bodyPr>
          <a:lstStyle/>
          <a:p>
            <a:pPr algn="l">
              <a:lnSpc>
                <a:spcPct val="114000"/>
              </a:lnSpc>
              <a:spcBef>
                <a:spcPts val="0"/>
              </a:spcBef>
              <a:spcAft>
                <a:spcPts val="500"/>
              </a:spcAft>
            </a:pPr>
            <a:r>
              <a:rPr sz="1350" b="1">
                <a:solidFill>
                  <a:srgbClr val="1D4E44"/>
                </a:solidFill>
                <a:latin typeface="Segoe UI Semibold"/>
              </a:rPr>
              <a:t>The demand is already measurable</a:t>
            </a:r>
          </a:p>
        </p:txBody>
      </p:sp>
      <p:sp>
        <p:nvSpPr>
          <p:cNvPr id="14" name="TextBox 13"/>
          <p:cNvSpPr txBox="1"/>
          <p:nvPr/>
        </p:nvSpPr>
        <p:spPr>
          <a:xfrm>
            <a:off x="7543800" y="2112264"/>
            <a:ext cx="3977639" cy="786384"/>
          </a:xfrm>
          <a:prstGeom prst="rect">
            <a:avLst/>
          </a:prstGeom>
          <a:noFill/>
        </p:spPr>
        <p:txBody>
          <a:bodyPr wrap="square" anchor="t" lIns="0" rIns="0" tIns="0" bIns="0">
            <a:spAutoFit/>
          </a:bodyPr>
          <a:lstStyle/>
          <a:p>
            <a:pPr algn="l">
              <a:lnSpc>
                <a:spcPct val="120000"/>
              </a:lnSpc>
              <a:spcBef>
                <a:spcPts val="0"/>
              </a:spcBef>
              <a:spcAft>
                <a:spcPts val="500"/>
              </a:spcAft>
            </a:pPr>
            <a:r>
              <a:rPr sz="1180" b="0">
                <a:solidFill>
                  <a:srgbClr val="1B2A26"/>
                </a:solidFill>
                <a:latin typeface="Segoe UI"/>
              </a:rPr>
              <a:t>The national helpline absorbs roughly 92,094 calls a year. Those are farmers actively seeking advice they cannot otherwise reach.</a:t>
            </a:r>
          </a:p>
        </p:txBody>
      </p:sp>
      <p:sp>
        <p:nvSpPr>
          <p:cNvPr id="15" name="TextBox 14"/>
          <p:cNvSpPr txBox="1"/>
          <p:nvPr/>
        </p:nvSpPr>
        <p:spPr>
          <a:xfrm>
            <a:off x="7543800" y="2871216"/>
            <a:ext cx="3977639" cy="274320"/>
          </a:xfrm>
          <a:prstGeom prst="rect">
            <a:avLst/>
          </a:prstGeom>
          <a:noFill/>
        </p:spPr>
        <p:txBody>
          <a:bodyPr wrap="square" anchor="t" lIns="0" rIns="0" tIns="0" bIns="0">
            <a:spAutoFit/>
          </a:bodyPr>
          <a:lstStyle/>
          <a:p>
            <a:pPr algn="l">
              <a:lnSpc>
                <a:spcPct val="114000"/>
              </a:lnSpc>
              <a:spcBef>
                <a:spcPts val="0"/>
              </a:spcBef>
              <a:spcAft>
                <a:spcPts val="500"/>
              </a:spcAft>
            </a:pPr>
            <a:r>
              <a:rPr sz="1350" b="1">
                <a:solidFill>
                  <a:srgbClr val="1D4E44"/>
                </a:solidFill>
                <a:latin typeface="Segoe UI Semibold"/>
              </a:rPr>
              <a:t>Unit economics allow a free tier</a:t>
            </a:r>
          </a:p>
        </p:txBody>
      </p:sp>
      <p:sp>
        <p:nvSpPr>
          <p:cNvPr id="16" name="TextBox 15"/>
          <p:cNvSpPr txBox="1"/>
          <p:nvPr/>
        </p:nvSpPr>
        <p:spPr>
          <a:xfrm>
            <a:off x="7543800" y="3136392"/>
            <a:ext cx="3977639" cy="786384"/>
          </a:xfrm>
          <a:prstGeom prst="rect">
            <a:avLst/>
          </a:prstGeom>
          <a:noFill/>
        </p:spPr>
        <p:txBody>
          <a:bodyPr wrap="square" anchor="t" lIns="0" rIns="0" tIns="0" bIns="0">
            <a:spAutoFit/>
          </a:bodyPr>
          <a:lstStyle/>
          <a:p>
            <a:pPr algn="l">
              <a:lnSpc>
                <a:spcPct val="120000"/>
              </a:lnSpc>
              <a:spcBef>
                <a:spcPts val="0"/>
              </a:spcBef>
              <a:spcAft>
                <a:spcPts val="500"/>
              </a:spcAft>
            </a:pPr>
            <a:r>
              <a:rPr sz="1180" b="0">
                <a:solidFill>
                  <a:srgbClr val="1B2A26"/>
                </a:solidFill>
                <a:latin typeface="Segoe UI"/>
              </a:rPr>
              <a:t>Because common questions resolve from cited tables instead of a paid model call, serving cost per farmer stays low enough for the core advisory to remain free.</a:t>
            </a:r>
          </a:p>
        </p:txBody>
      </p:sp>
      <p:sp>
        <p:nvSpPr>
          <p:cNvPr id="17" name="TextBox 16"/>
          <p:cNvSpPr txBox="1"/>
          <p:nvPr/>
        </p:nvSpPr>
        <p:spPr>
          <a:xfrm>
            <a:off x="7543800" y="3895344"/>
            <a:ext cx="3977639" cy="274320"/>
          </a:xfrm>
          <a:prstGeom prst="rect">
            <a:avLst/>
          </a:prstGeom>
          <a:noFill/>
        </p:spPr>
        <p:txBody>
          <a:bodyPr wrap="square" anchor="t" lIns="0" rIns="0" tIns="0" bIns="0">
            <a:spAutoFit/>
          </a:bodyPr>
          <a:lstStyle/>
          <a:p>
            <a:pPr algn="l">
              <a:lnSpc>
                <a:spcPct val="114000"/>
              </a:lnSpc>
              <a:spcBef>
                <a:spcPts val="0"/>
              </a:spcBef>
              <a:spcAft>
                <a:spcPts val="500"/>
              </a:spcAft>
            </a:pPr>
            <a:r>
              <a:rPr sz="1350" b="1">
                <a:solidFill>
                  <a:srgbClr val="1D4E44"/>
                </a:solidFill>
                <a:latin typeface="Segoe UI Semibold"/>
              </a:rPr>
              <a:t>Institutions are the paying side</a:t>
            </a:r>
          </a:p>
        </p:txBody>
      </p:sp>
      <p:sp>
        <p:nvSpPr>
          <p:cNvPr id="18" name="TextBox 17"/>
          <p:cNvSpPr txBox="1"/>
          <p:nvPr/>
        </p:nvSpPr>
        <p:spPr>
          <a:xfrm>
            <a:off x="7543800" y="4160520"/>
            <a:ext cx="3977639" cy="786384"/>
          </a:xfrm>
          <a:prstGeom prst="rect">
            <a:avLst/>
          </a:prstGeom>
          <a:noFill/>
        </p:spPr>
        <p:txBody>
          <a:bodyPr wrap="square" anchor="t" lIns="0" rIns="0" tIns="0" bIns="0">
            <a:spAutoFit/>
          </a:bodyPr>
          <a:lstStyle/>
          <a:p>
            <a:pPr algn="l">
              <a:lnSpc>
                <a:spcPct val="120000"/>
              </a:lnSpc>
              <a:spcBef>
                <a:spcPts val="0"/>
              </a:spcBef>
              <a:spcAft>
                <a:spcPts val="500"/>
              </a:spcAft>
            </a:pPr>
            <a:r>
              <a:rPr sz="1180" b="0">
                <a:solidFill>
                  <a:srgbClr val="1B2A26"/>
                </a:solidFill>
                <a:latin typeface="Segoe UI"/>
              </a:rPr>
              <a:t>Dealers, cooperatives, input companies, insurers, and extension programs need multi farmer dashboards, branded advisory channels, and licensed data, and each of those is a product rather than a promise.</a:t>
            </a:r>
          </a:p>
        </p:txBody>
      </p:sp>
      <p:sp>
        <p:nvSpPr>
          <p:cNvPr id="19" name="TextBox 18"/>
          <p:cNvSpPr txBox="1"/>
          <p:nvPr/>
        </p:nvSpPr>
        <p:spPr>
          <a:xfrm>
            <a:off x="7543800" y="4919472"/>
            <a:ext cx="3977639" cy="274320"/>
          </a:xfrm>
          <a:prstGeom prst="rect">
            <a:avLst/>
          </a:prstGeom>
          <a:noFill/>
        </p:spPr>
        <p:txBody>
          <a:bodyPr wrap="square" anchor="t" lIns="0" rIns="0" tIns="0" bIns="0">
            <a:spAutoFit/>
          </a:bodyPr>
          <a:lstStyle/>
          <a:p>
            <a:pPr algn="l">
              <a:lnSpc>
                <a:spcPct val="114000"/>
              </a:lnSpc>
              <a:spcBef>
                <a:spcPts val="0"/>
              </a:spcBef>
              <a:spcAft>
                <a:spcPts val="500"/>
              </a:spcAft>
            </a:pPr>
            <a:r>
              <a:rPr sz="1350" b="1">
                <a:solidFill>
                  <a:srgbClr val="1D4E44"/>
                </a:solidFill>
                <a:latin typeface="Segoe UI Semibold"/>
              </a:rPr>
              <a:t>The audit trail is commercially useful</a:t>
            </a:r>
          </a:p>
        </p:txBody>
      </p:sp>
      <p:sp>
        <p:nvSpPr>
          <p:cNvPr id="20" name="TextBox 19"/>
          <p:cNvSpPr txBox="1"/>
          <p:nvPr/>
        </p:nvSpPr>
        <p:spPr>
          <a:xfrm>
            <a:off x="7543800" y="5184648"/>
            <a:ext cx="3977639" cy="786384"/>
          </a:xfrm>
          <a:prstGeom prst="rect">
            <a:avLst/>
          </a:prstGeom>
          <a:noFill/>
        </p:spPr>
        <p:txBody>
          <a:bodyPr wrap="square" anchor="t" lIns="0" rIns="0" tIns="0" bIns="0">
            <a:spAutoFit/>
          </a:bodyPr>
          <a:lstStyle/>
          <a:p>
            <a:pPr algn="l">
              <a:lnSpc>
                <a:spcPct val="120000"/>
              </a:lnSpc>
              <a:spcBef>
                <a:spcPts val="0"/>
              </a:spcBef>
              <a:spcAft>
                <a:spcPts val="500"/>
              </a:spcAft>
            </a:pPr>
            <a:r>
              <a:rPr sz="1180" b="0">
                <a:solidFill>
                  <a:srgbClr val="1B2A26"/>
                </a:solidFill>
                <a:latin typeface="Segoe UI"/>
              </a:rPr>
              <a:t>Any partner who must demonstrate responsible advice can point to a verifiable record, which a general chatbot cannot provide.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7150" cy="6858000"/>
          </a:xfrm>
          <a:prstGeom prst="rect">
            <a:avLst/>
          </a:prstGeom>
          <a:solidFill>
            <a:srgbClr val="1D4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515600" cy="274320"/>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SOCIAL INCLUSION AND LEADERSHIP</a:t>
            </a:r>
          </a:p>
        </p:txBody>
      </p:sp>
      <p:sp>
        <p:nvSpPr>
          <p:cNvPr id="5" name="TextBox 4"/>
          <p:cNvSpPr txBox="1"/>
          <p:nvPr/>
        </p:nvSpPr>
        <p:spPr>
          <a:xfrm>
            <a:off x="658368" y="658368"/>
            <a:ext cx="10972800" cy="566928"/>
          </a:xfrm>
          <a:prstGeom prst="rect">
            <a:avLst/>
          </a:prstGeom>
          <a:noFill/>
        </p:spPr>
        <p:txBody>
          <a:bodyPr wrap="square" anchor="t" lIns="0" rIns="0" tIns="0" bIns="0">
            <a:spAutoFit/>
          </a:bodyPr>
          <a:lstStyle/>
          <a:p>
            <a:pPr algn="l">
              <a:lnSpc>
                <a:spcPct val="114000"/>
              </a:lnSpc>
              <a:spcBef>
                <a:spcPts val="0"/>
              </a:spcBef>
              <a:spcAft>
                <a:spcPts val="500"/>
              </a:spcAft>
            </a:pPr>
            <a:r>
              <a:rPr sz="2600" b="1">
                <a:solidFill>
                  <a:srgbClr val="1D4E44"/>
                </a:solidFill>
                <a:latin typeface="Segoe UI Semibold"/>
              </a:rPr>
              <a:t>Reaching the farmers usually left out</a:t>
            </a:r>
          </a:p>
        </p:txBody>
      </p:sp>
      <p:sp>
        <p:nvSpPr>
          <p:cNvPr id="6" name="Rectangle 5"/>
          <p:cNvSpPr/>
          <p:nvPr/>
        </p:nvSpPr>
        <p:spPr>
          <a:xfrm>
            <a:off x="676656" y="1243584"/>
            <a:ext cx="10835640" cy="13970"/>
          </a:xfrm>
          <a:prstGeom prst="rect">
            <a:avLst/>
          </a:prstGeom>
          <a:solidFill>
            <a:srgbClr val="D6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37376"/>
            <a:ext cx="5486400" cy="237744"/>
          </a:xfrm>
          <a:prstGeom prst="rect">
            <a:avLst/>
          </a:prstGeom>
          <a:noFill/>
        </p:spPr>
        <p:txBody>
          <a:bodyPr wrap="square" anchor="t" lIns="0" rIns="0" tIns="0" bIns="0">
            <a:spAutoFit/>
          </a:bodyPr>
          <a:lstStyle/>
          <a:p>
            <a:pPr algn="l">
              <a:lnSpc>
                <a:spcPct val="114000"/>
              </a:lnSpc>
              <a:spcBef>
                <a:spcPts val="0"/>
              </a:spcBef>
              <a:spcAft>
                <a:spcPts val="500"/>
              </a:spcAft>
            </a:pPr>
            <a:r>
              <a:rPr sz="1000" b="1">
                <a:solidFill>
                  <a:srgbClr val="1D4E44"/>
                </a:solidFill>
                <a:latin typeface="Segoe UI Semibold"/>
              </a:rPr>
              <a:t>KrishokChat</a:t>
            </a:r>
            <a:r>
              <a:rPr sz="1000" b="0">
                <a:solidFill>
                  <a:srgbClr val="6B736E"/>
                </a:solidFill>
                <a:latin typeface="Segoe UI"/>
              </a:rPr>
              <a:t>    Innovation Fair Bangladesh</a:t>
            </a:r>
          </a:p>
        </p:txBody>
      </p:sp>
      <p:sp>
        <p:nvSpPr>
          <p:cNvPr id="8" name="TextBox 7"/>
          <p:cNvSpPr txBox="1"/>
          <p:nvPr/>
        </p:nvSpPr>
        <p:spPr>
          <a:xfrm>
            <a:off x="11094415" y="6437376"/>
            <a:ext cx="640080" cy="237744"/>
          </a:xfrm>
          <a:prstGeom prst="rect">
            <a:avLst/>
          </a:prstGeom>
          <a:noFill/>
        </p:spPr>
        <p:txBody>
          <a:bodyPr wrap="square" anchor="t" lIns="0" rIns="0" tIns="0" bIns="0">
            <a:spAutoFit/>
          </a:bodyPr>
          <a:lstStyle/>
          <a:p>
            <a:pPr algn="r">
              <a:lnSpc>
                <a:spcPct val="114000"/>
              </a:lnSpc>
              <a:spcBef>
                <a:spcPts val="0"/>
              </a:spcBef>
              <a:spcAft>
                <a:spcPts val="500"/>
              </a:spcAft>
            </a:pPr>
            <a:r>
              <a:rPr sz="1000" b="0">
                <a:solidFill>
                  <a:srgbClr val="6B736E"/>
                </a:solidFill>
                <a:latin typeface="Segoe UI"/>
              </a:rPr>
              <a:t>8 / 9</a:t>
            </a:r>
          </a:p>
        </p:txBody>
      </p:sp>
      <p:sp>
        <p:nvSpPr>
          <p:cNvPr id="9" name="TextBox 8"/>
          <p:cNvSpPr txBox="1"/>
          <p:nvPr/>
        </p:nvSpPr>
        <p:spPr>
          <a:xfrm>
            <a:off x="685800" y="1481328"/>
            <a:ext cx="5257800" cy="292608"/>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SOCIAL INCLUSION</a:t>
            </a:r>
          </a:p>
        </p:txBody>
      </p:sp>
      <p:sp>
        <p:nvSpPr>
          <p:cNvPr id="10" name="Rectangle 9"/>
          <p:cNvSpPr/>
          <p:nvPr/>
        </p:nvSpPr>
        <p:spPr>
          <a:xfrm>
            <a:off x="685800" y="1911096"/>
            <a:ext cx="38100" cy="192024"/>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865376"/>
            <a:ext cx="5029200" cy="274320"/>
          </a:xfrm>
          <a:prstGeom prst="rect">
            <a:avLst/>
          </a:prstGeom>
          <a:noFill/>
        </p:spPr>
        <p:txBody>
          <a:bodyPr wrap="square" anchor="t" lIns="0" rIns="0" tIns="0" bIns="0">
            <a:spAutoFit/>
          </a:bodyPr>
          <a:lstStyle/>
          <a:p>
            <a:pPr algn="l">
              <a:lnSpc>
                <a:spcPct val="114000"/>
              </a:lnSpc>
              <a:spcBef>
                <a:spcPts val="0"/>
              </a:spcBef>
              <a:spcAft>
                <a:spcPts val="500"/>
              </a:spcAft>
            </a:pPr>
            <a:r>
              <a:rPr sz="1400" b="1">
                <a:solidFill>
                  <a:srgbClr val="1D4E44"/>
                </a:solidFill>
                <a:latin typeface="Segoe UI Semibold"/>
              </a:rPr>
              <a:t>Literacy is not a barrier to entry</a:t>
            </a:r>
          </a:p>
        </p:txBody>
      </p:sp>
      <p:sp>
        <p:nvSpPr>
          <p:cNvPr id="12" name="TextBox 11"/>
          <p:cNvSpPr txBox="1"/>
          <p:nvPr/>
        </p:nvSpPr>
        <p:spPr>
          <a:xfrm>
            <a:off x="886968" y="2130552"/>
            <a:ext cx="5029200" cy="804672"/>
          </a:xfrm>
          <a:prstGeom prst="rect">
            <a:avLst/>
          </a:prstGeom>
          <a:noFill/>
        </p:spPr>
        <p:txBody>
          <a:bodyPr wrap="square" anchor="t" lIns="0" rIns="0" tIns="0" bIns="0">
            <a:spAutoFit/>
          </a:bodyPr>
          <a:lstStyle/>
          <a:p>
            <a:pPr algn="l">
              <a:lnSpc>
                <a:spcPct val="120000"/>
              </a:lnSpc>
              <a:spcBef>
                <a:spcPts val="0"/>
              </a:spcBef>
              <a:spcAft>
                <a:spcPts val="500"/>
              </a:spcAft>
            </a:pPr>
            <a:r>
              <a:rPr sz="1230" b="0">
                <a:solidFill>
                  <a:srgbClr val="1B2A26"/>
                </a:solidFill>
                <a:latin typeface="Segoe UI"/>
              </a:rPr>
              <a:t>Voice input and Banglish handling mean a farmer who cannot type formal Bengali still receives the same quality of guidance as anyone else.</a:t>
            </a:r>
          </a:p>
        </p:txBody>
      </p:sp>
      <p:sp>
        <p:nvSpPr>
          <p:cNvPr id="13" name="Rectangle 12"/>
          <p:cNvSpPr/>
          <p:nvPr/>
        </p:nvSpPr>
        <p:spPr>
          <a:xfrm>
            <a:off x="685800" y="2990088"/>
            <a:ext cx="38100" cy="192024"/>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944368"/>
            <a:ext cx="5029200" cy="274320"/>
          </a:xfrm>
          <a:prstGeom prst="rect">
            <a:avLst/>
          </a:prstGeom>
          <a:noFill/>
        </p:spPr>
        <p:txBody>
          <a:bodyPr wrap="square" anchor="t" lIns="0" rIns="0" tIns="0" bIns="0">
            <a:spAutoFit/>
          </a:bodyPr>
          <a:lstStyle/>
          <a:p>
            <a:pPr algn="l">
              <a:lnSpc>
                <a:spcPct val="114000"/>
              </a:lnSpc>
              <a:spcBef>
                <a:spcPts val="0"/>
              </a:spcBef>
              <a:spcAft>
                <a:spcPts val="500"/>
              </a:spcAft>
            </a:pPr>
            <a:r>
              <a:rPr sz="1400" b="1">
                <a:solidFill>
                  <a:srgbClr val="1D4E44"/>
                </a:solidFill>
                <a:latin typeface="Segoe UI Semibold"/>
              </a:rPr>
              <a:t>Women managing homestead plots</a:t>
            </a:r>
          </a:p>
        </p:txBody>
      </p:sp>
      <p:sp>
        <p:nvSpPr>
          <p:cNvPr id="15" name="TextBox 14"/>
          <p:cNvSpPr txBox="1"/>
          <p:nvPr/>
        </p:nvSpPr>
        <p:spPr>
          <a:xfrm>
            <a:off x="886968" y="3209544"/>
            <a:ext cx="5029200" cy="804672"/>
          </a:xfrm>
          <a:prstGeom prst="rect">
            <a:avLst/>
          </a:prstGeom>
          <a:noFill/>
        </p:spPr>
        <p:txBody>
          <a:bodyPr wrap="square" anchor="t" lIns="0" rIns="0" tIns="0" bIns="0">
            <a:spAutoFit/>
          </a:bodyPr>
          <a:lstStyle/>
          <a:p>
            <a:pPr algn="l">
              <a:lnSpc>
                <a:spcPct val="120000"/>
              </a:lnSpc>
              <a:spcBef>
                <a:spcPts val="0"/>
              </a:spcBef>
              <a:spcAft>
                <a:spcPts val="500"/>
              </a:spcAft>
            </a:pPr>
            <a:r>
              <a:rPr sz="1230" b="0">
                <a:solidFill>
                  <a:srgbClr val="1B2A26"/>
                </a:solidFill>
                <a:latin typeface="Segoe UI"/>
              </a:rPr>
              <a:t>Advice arrives privately on a household phone, without needing a trip to a dealer or a male intermediary to ask on her behalf.</a:t>
            </a:r>
          </a:p>
        </p:txBody>
      </p:sp>
      <p:sp>
        <p:nvSpPr>
          <p:cNvPr id="16" name="Rectangle 15"/>
          <p:cNvSpPr/>
          <p:nvPr/>
        </p:nvSpPr>
        <p:spPr>
          <a:xfrm>
            <a:off x="685800" y="4069080"/>
            <a:ext cx="38100" cy="192024"/>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4023360"/>
            <a:ext cx="5029200" cy="274320"/>
          </a:xfrm>
          <a:prstGeom prst="rect">
            <a:avLst/>
          </a:prstGeom>
          <a:noFill/>
        </p:spPr>
        <p:txBody>
          <a:bodyPr wrap="square" anchor="t" lIns="0" rIns="0" tIns="0" bIns="0">
            <a:spAutoFit/>
          </a:bodyPr>
          <a:lstStyle/>
          <a:p>
            <a:pPr algn="l">
              <a:lnSpc>
                <a:spcPct val="114000"/>
              </a:lnSpc>
              <a:spcBef>
                <a:spcPts val="0"/>
              </a:spcBef>
              <a:spcAft>
                <a:spcPts val="500"/>
              </a:spcAft>
            </a:pPr>
            <a:r>
              <a:rPr sz="1400" b="1">
                <a:solidFill>
                  <a:srgbClr val="1D4E44"/>
                </a:solidFill>
                <a:latin typeface="Segoe UI Semibold"/>
              </a:rPr>
              <a:t>Young and first generation farmers</a:t>
            </a:r>
          </a:p>
        </p:txBody>
      </p:sp>
      <p:sp>
        <p:nvSpPr>
          <p:cNvPr id="18" name="TextBox 17"/>
          <p:cNvSpPr txBox="1"/>
          <p:nvPr/>
        </p:nvSpPr>
        <p:spPr>
          <a:xfrm>
            <a:off x="886968" y="4288536"/>
            <a:ext cx="5029200" cy="804672"/>
          </a:xfrm>
          <a:prstGeom prst="rect">
            <a:avLst/>
          </a:prstGeom>
          <a:noFill/>
        </p:spPr>
        <p:txBody>
          <a:bodyPr wrap="square" anchor="t" lIns="0" rIns="0" tIns="0" bIns="0">
            <a:spAutoFit/>
          </a:bodyPr>
          <a:lstStyle/>
          <a:p>
            <a:pPr algn="l">
              <a:lnSpc>
                <a:spcPct val="120000"/>
              </a:lnSpc>
              <a:spcBef>
                <a:spcPts val="0"/>
              </a:spcBef>
              <a:spcAft>
                <a:spcPts val="500"/>
              </a:spcAft>
            </a:pPr>
            <a:r>
              <a:rPr sz="1230" b="0">
                <a:solidFill>
                  <a:srgbClr val="1B2A26"/>
                </a:solidFill>
                <a:latin typeface="Segoe UI"/>
              </a:rPr>
              <a:t>Free access and plain language lower the cost of learning good practice, which is exactly where new entrants are most exposed to bad advice.</a:t>
            </a:r>
          </a:p>
        </p:txBody>
      </p:sp>
      <p:sp>
        <p:nvSpPr>
          <p:cNvPr id="19" name="Rectangle 18"/>
          <p:cNvSpPr/>
          <p:nvPr/>
        </p:nvSpPr>
        <p:spPr>
          <a:xfrm>
            <a:off x="685800" y="5148072"/>
            <a:ext cx="38100" cy="192024"/>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5102352"/>
            <a:ext cx="5029200" cy="274320"/>
          </a:xfrm>
          <a:prstGeom prst="rect">
            <a:avLst/>
          </a:prstGeom>
          <a:noFill/>
        </p:spPr>
        <p:txBody>
          <a:bodyPr wrap="square" anchor="t" lIns="0" rIns="0" tIns="0" bIns="0">
            <a:spAutoFit/>
          </a:bodyPr>
          <a:lstStyle/>
          <a:p>
            <a:pPr algn="l">
              <a:lnSpc>
                <a:spcPct val="114000"/>
              </a:lnSpc>
              <a:spcBef>
                <a:spcPts val="0"/>
              </a:spcBef>
              <a:spcAft>
                <a:spcPts val="500"/>
              </a:spcAft>
            </a:pPr>
            <a:r>
              <a:rPr sz="1400" b="1">
                <a:solidFill>
                  <a:srgbClr val="1D4E44"/>
                </a:solidFill>
                <a:latin typeface="Segoe UI Semibold"/>
              </a:rPr>
              <a:t>Low connectivity is designed for</a:t>
            </a:r>
          </a:p>
        </p:txBody>
      </p:sp>
      <p:sp>
        <p:nvSpPr>
          <p:cNvPr id="21" name="TextBox 20"/>
          <p:cNvSpPr txBox="1"/>
          <p:nvPr/>
        </p:nvSpPr>
        <p:spPr>
          <a:xfrm>
            <a:off x="886968" y="5367528"/>
            <a:ext cx="5029200" cy="804672"/>
          </a:xfrm>
          <a:prstGeom prst="rect">
            <a:avLst/>
          </a:prstGeom>
          <a:noFill/>
        </p:spPr>
        <p:txBody>
          <a:bodyPr wrap="square" anchor="t" lIns="0" rIns="0" tIns="0" bIns="0">
            <a:spAutoFit/>
          </a:bodyPr>
          <a:lstStyle/>
          <a:p>
            <a:pPr algn="l">
              <a:lnSpc>
                <a:spcPct val="120000"/>
              </a:lnSpc>
              <a:spcBef>
                <a:spcPts val="0"/>
              </a:spcBef>
              <a:spcAft>
                <a:spcPts val="500"/>
              </a:spcAft>
            </a:pPr>
            <a:r>
              <a:rPr sz="1230" b="0">
                <a:solidFill>
                  <a:srgbClr val="1B2A26"/>
                </a:solidFill>
                <a:latin typeface="Segoe UI"/>
              </a:rPr>
              <a:t>Keeping knowledge and safety rules separate from the heavy model is what lets the critical answers work where the network does not.</a:t>
            </a:r>
          </a:p>
        </p:txBody>
      </p:sp>
      <p:sp>
        <p:nvSpPr>
          <p:cNvPr id="22" name="TextBox 21"/>
          <p:cNvSpPr txBox="1"/>
          <p:nvPr/>
        </p:nvSpPr>
        <p:spPr>
          <a:xfrm>
            <a:off x="6446520" y="1481328"/>
            <a:ext cx="5074920" cy="292608"/>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INNOVATIVE LEADERSHIP</a:t>
            </a:r>
          </a:p>
        </p:txBody>
      </p:sp>
      <p:sp>
        <p:nvSpPr>
          <p:cNvPr id="23" name="TextBox 22"/>
          <p:cNvSpPr txBox="1"/>
          <p:nvPr/>
        </p:nvSpPr>
        <p:spPr>
          <a:xfrm>
            <a:off x="6446520" y="1865376"/>
            <a:ext cx="5074920" cy="1828800"/>
          </a:xfrm>
          <a:prstGeom prst="rect">
            <a:avLst/>
          </a:prstGeom>
          <a:noFill/>
        </p:spPr>
        <p:txBody>
          <a:bodyPr wrap="square" anchor="t" lIns="0" rIns="0" tIns="0" bIns="0">
            <a:spAutoFit/>
          </a:bodyPr>
          <a:lstStyle/>
          <a:p>
            <a:pPr algn="l">
              <a:lnSpc>
                <a:spcPct val="128000"/>
              </a:lnSpc>
              <a:spcBef>
                <a:spcPts val="0"/>
              </a:spcBef>
              <a:spcAft>
                <a:spcPts val="500"/>
              </a:spcAft>
            </a:pPr>
            <a:r>
              <a:rPr sz="1350" b="0">
                <a:solidFill>
                  <a:srgbClr val="1B2A26"/>
                </a:solidFill>
                <a:latin typeface="Segoe UI"/>
              </a:rPr>
              <a:t>The work is led as research and as engineering at once. Three papers document the dataset, the safety critical advisory design, and the provenance traceable retrieval architecture, while the system itself is held to a fixed regression baseline with a documented roadmap executed one reviewed change at a time.</a:t>
            </a:r>
          </a:p>
          <a:p>
            <a:pPr algn="l">
              <a:lnSpc>
                <a:spcPct val="128000"/>
              </a:lnSpc>
              <a:spcBef>
                <a:spcPts val="0"/>
              </a:spcBef>
              <a:spcAft>
                <a:spcPts val="500"/>
              </a:spcAft>
            </a:pPr>
            <a:r>
              <a:rPr sz="700" b="0">
                <a:solidFill>
                  <a:srgbClr val="1B2A26"/>
                </a:solidFill>
                <a:latin typeface="Segoe UI"/>
              </a:rPr>
              <a:t/>
            </a:r>
          </a:p>
          <a:p>
            <a:pPr algn="l">
              <a:lnSpc>
                <a:spcPct val="128000"/>
              </a:lnSpc>
              <a:spcBef>
                <a:spcPts val="0"/>
              </a:spcBef>
              <a:spcAft>
                <a:spcPts val="500"/>
              </a:spcAft>
            </a:pPr>
            <a:r>
              <a:rPr sz="1350" b="0">
                <a:solidFill>
                  <a:srgbClr val="1B2A26"/>
                </a:solidFill>
                <a:latin typeface="Segoe UI"/>
              </a:rPr>
              <a:t>Field conversations with farmers set the requirements, and the refusal behaviour was designed with the national helpline as the escalation path rather than as a competitor.</a:t>
            </a:r>
          </a:p>
        </p:txBody>
      </p:sp>
      <p:sp>
        <p:nvSpPr>
          <p:cNvPr id="24" name="Rectangle 23"/>
          <p:cNvSpPr/>
          <p:nvPr/>
        </p:nvSpPr>
        <p:spPr>
          <a:xfrm>
            <a:off x="6446520" y="3977639"/>
            <a:ext cx="5074920" cy="12700"/>
          </a:xfrm>
          <a:prstGeom prst="rect">
            <a:avLst/>
          </a:prstGeom>
          <a:solidFill>
            <a:srgbClr val="D6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4160520"/>
            <a:ext cx="5074920" cy="292608"/>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WHERE WE ARE</a:t>
            </a:r>
          </a:p>
        </p:txBody>
      </p:sp>
      <p:sp>
        <p:nvSpPr>
          <p:cNvPr id="26" name="TextBox 25"/>
          <p:cNvSpPr txBox="1"/>
          <p:nvPr/>
        </p:nvSpPr>
        <p:spPr>
          <a:xfrm>
            <a:off x="6446520" y="4517136"/>
            <a:ext cx="5074920" cy="1463040"/>
          </a:xfrm>
          <a:prstGeom prst="rect">
            <a:avLst/>
          </a:prstGeom>
          <a:noFill/>
        </p:spPr>
        <p:txBody>
          <a:bodyPr wrap="square" anchor="t" lIns="0" rIns="0" tIns="0" bIns="0">
            <a:spAutoFit/>
          </a:bodyPr>
          <a:lstStyle/>
          <a:p>
            <a:pPr algn="l">
              <a:lnSpc>
                <a:spcPct val="130000"/>
              </a:lnSpc>
              <a:spcBef>
                <a:spcPts val="0"/>
              </a:spcBef>
              <a:spcAft>
                <a:spcPts val="500"/>
              </a:spcAft>
            </a:pPr>
            <a:r>
              <a:rPr sz="1350" b="1">
                <a:solidFill>
                  <a:srgbClr val="1D4E44"/>
                </a:solidFill>
                <a:latin typeface="Segoe UI"/>
              </a:rPr>
              <a:t>A working, tested system today, with the fully offline path, wider crop coverage, and weather driven alerting landing before the fair. Not a demonstration looking for a problem, but a working answer to one that farmers face every season.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7150" cy="6858000"/>
          </a:xfrm>
          <a:prstGeom prst="rect">
            <a:avLst/>
          </a:prstGeom>
          <a:solidFill>
            <a:srgbClr val="1D4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515600" cy="274320"/>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SUSTAINABLE DEVELOPMENT CONTRIBUTION</a:t>
            </a:r>
          </a:p>
        </p:txBody>
      </p:sp>
      <p:sp>
        <p:nvSpPr>
          <p:cNvPr id="5" name="TextBox 4"/>
          <p:cNvSpPr txBox="1"/>
          <p:nvPr/>
        </p:nvSpPr>
        <p:spPr>
          <a:xfrm>
            <a:off x="658368" y="658368"/>
            <a:ext cx="10972800" cy="566928"/>
          </a:xfrm>
          <a:prstGeom prst="rect">
            <a:avLst/>
          </a:prstGeom>
          <a:noFill/>
        </p:spPr>
        <p:txBody>
          <a:bodyPr wrap="square" anchor="t" lIns="0" rIns="0" tIns="0" bIns="0">
            <a:spAutoFit/>
          </a:bodyPr>
          <a:lstStyle/>
          <a:p>
            <a:pPr algn="l">
              <a:lnSpc>
                <a:spcPct val="114000"/>
              </a:lnSpc>
              <a:spcBef>
                <a:spcPts val="0"/>
              </a:spcBef>
              <a:spcAft>
                <a:spcPts val="500"/>
              </a:spcAft>
            </a:pPr>
            <a:r>
              <a:rPr sz="2600" b="1">
                <a:solidFill>
                  <a:srgbClr val="1D4E44"/>
                </a:solidFill>
                <a:latin typeface="Segoe UI Semibold"/>
              </a:rPr>
              <a:t>Five goals the system moves in practice, not in principle</a:t>
            </a:r>
          </a:p>
        </p:txBody>
      </p:sp>
      <p:sp>
        <p:nvSpPr>
          <p:cNvPr id="6" name="Rectangle 5"/>
          <p:cNvSpPr/>
          <p:nvPr/>
        </p:nvSpPr>
        <p:spPr>
          <a:xfrm>
            <a:off x="676656" y="1243584"/>
            <a:ext cx="10835640" cy="13970"/>
          </a:xfrm>
          <a:prstGeom prst="rect">
            <a:avLst/>
          </a:prstGeom>
          <a:solidFill>
            <a:srgbClr val="D6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37376"/>
            <a:ext cx="5486400" cy="237744"/>
          </a:xfrm>
          <a:prstGeom prst="rect">
            <a:avLst/>
          </a:prstGeom>
          <a:noFill/>
        </p:spPr>
        <p:txBody>
          <a:bodyPr wrap="square" anchor="t" lIns="0" rIns="0" tIns="0" bIns="0">
            <a:spAutoFit/>
          </a:bodyPr>
          <a:lstStyle/>
          <a:p>
            <a:pPr algn="l">
              <a:lnSpc>
                <a:spcPct val="114000"/>
              </a:lnSpc>
              <a:spcBef>
                <a:spcPts val="0"/>
              </a:spcBef>
              <a:spcAft>
                <a:spcPts val="500"/>
              </a:spcAft>
            </a:pPr>
            <a:r>
              <a:rPr sz="1000" b="1">
                <a:solidFill>
                  <a:srgbClr val="1D4E44"/>
                </a:solidFill>
                <a:latin typeface="Segoe UI Semibold"/>
              </a:rPr>
              <a:t>KrishokChat</a:t>
            </a:r>
            <a:r>
              <a:rPr sz="1000" b="0">
                <a:solidFill>
                  <a:srgbClr val="6B736E"/>
                </a:solidFill>
                <a:latin typeface="Segoe UI"/>
              </a:rPr>
              <a:t>    Innovation Fair Bangladesh</a:t>
            </a:r>
          </a:p>
        </p:txBody>
      </p:sp>
      <p:sp>
        <p:nvSpPr>
          <p:cNvPr id="8" name="TextBox 7"/>
          <p:cNvSpPr txBox="1"/>
          <p:nvPr/>
        </p:nvSpPr>
        <p:spPr>
          <a:xfrm>
            <a:off x="11094415" y="6437376"/>
            <a:ext cx="640080" cy="237744"/>
          </a:xfrm>
          <a:prstGeom prst="rect">
            <a:avLst/>
          </a:prstGeom>
          <a:noFill/>
        </p:spPr>
        <p:txBody>
          <a:bodyPr wrap="square" anchor="t" lIns="0" rIns="0" tIns="0" bIns="0">
            <a:spAutoFit/>
          </a:bodyPr>
          <a:lstStyle/>
          <a:p>
            <a:pPr algn="r">
              <a:lnSpc>
                <a:spcPct val="114000"/>
              </a:lnSpc>
              <a:spcBef>
                <a:spcPts val="0"/>
              </a:spcBef>
              <a:spcAft>
                <a:spcPts val="500"/>
              </a:spcAft>
            </a:pPr>
            <a:r>
              <a:rPr sz="1000" b="0">
                <a:solidFill>
                  <a:srgbClr val="6B736E"/>
                </a:solidFill>
                <a:latin typeface="Segoe UI"/>
              </a:rPr>
              <a:t>9 / 9</a:t>
            </a:r>
          </a:p>
        </p:txBody>
      </p:sp>
      <p:sp>
        <p:nvSpPr>
          <p:cNvPr id="9" name="Rectangle 8"/>
          <p:cNvSpPr/>
          <p:nvPr/>
        </p:nvSpPr>
        <p:spPr>
          <a:xfrm>
            <a:off x="767715" y="1508379"/>
            <a:ext cx="4243364" cy="2396490"/>
          </a:xfrm>
          <a:prstGeom prst="rect">
            <a:avLst/>
          </a:prstGeom>
          <a:noFill/>
          <a:ln w="9525">
            <a:solidFill>
              <a:srgbClr val="D6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gd.png"/>
          <p:cNvPicPr>
            <a:picLocks noChangeAspect="1"/>
          </p:cNvPicPr>
          <p:nvPr/>
        </p:nvPicPr>
        <p:blipFill>
          <a:blip r:embed="rId2"/>
          <a:stretch>
            <a:fillRect/>
          </a:stretch>
        </p:blipFill>
        <p:spPr>
          <a:xfrm>
            <a:off x="777240" y="1517904"/>
            <a:ext cx="4224314" cy="2377440"/>
          </a:xfrm>
          <a:prstGeom prst="rect">
            <a:avLst/>
          </a:prstGeom>
        </p:spPr>
      </p:pic>
      <p:sp>
        <p:nvSpPr>
          <p:cNvPr id="11" name="Rectangle 10"/>
          <p:cNvSpPr/>
          <p:nvPr/>
        </p:nvSpPr>
        <p:spPr>
          <a:xfrm>
            <a:off x="685800" y="4041648"/>
            <a:ext cx="10835640" cy="12700"/>
          </a:xfrm>
          <a:prstGeom prst="rect">
            <a:avLst/>
          </a:prstGeom>
          <a:solidFill>
            <a:srgbClr val="D6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206240"/>
            <a:ext cx="10835640" cy="292608"/>
          </a:xfrm>
          <a:prstGeom prst="rect">
            <a:avLst/>
          </a:prstGeom>
          <a:noFill/>
        </p:spPr>
        <p:txBody>
          <a:bodyPr wrap="square" anchor="t" lIns="0" rIns="0" tIns="0" bIns="0">
            <a:spAutoFit/>
          </a:bodyPr>
          <a:lstStyle/>
          <a:p>
            <a:pPr algn="l">
              <a:lnSpc>
                <a:spcPct val="114000"/>
              </a:lnSpc>
              <a:spcBef>
                <a:spcPts val="0"/>
              </a:spcBef>
              <a:spcAft>
                <a:spcPts val="500"/>
              </a:spcAft>
            </a:pPr>
            <a:r>
              <a:rPr sz="1150" b="1">
                <a:solidFill>
                  <a:srgbClr val="466473"/>
                </a:solidFill>
                <a:latin typeface="Segoe UI Semibold"/>
              </a:rPr>
              <a:t>HOW EACH ONE IS ACTUALLY MOVED</a:t>
            </a:r>
          </a:p>
        </p:txBody>
      </p:sp>
      <p:sp>
        <p:nvSpPr>
          <p:cNvPr id="13" name="Rectangle 12"/>
          <p:cNvSpPr/>
          <p:nvPr/>
        </p:nvSpPr>
        <p:spPr>
          <a:xfrm>
            <a:off x="713232" y="4590288"/>
            <a:ext cx="3502152" cy="1481328"/>
          </a:xfrm>
          <a:prstGeom prst="rect">
            <a:avLst/>
          </a:prstGeom>
          <a:solidFill>
            <a:srgbClr val="F0F4F2"/>
          </a:solidFill>
          <a:ln w="11430">
            <a:solidFill>
              <a:srgbClr val="D6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3232" y="4590288"/>
            <a:ext cx="38100" cy="1481328"/>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4718304"/>
            <a:ext cx="3081528" cy="274320"/>
          </a:xfrm>
          <a:prstGeom prst="rect">
            <a:avLst/>
          </a:prstGeom>
          <a:noFill/>
        </p:spPr>
        <p:txBody>
          <a:bodyPr wrap="square" anchor="t" lIns="0" rIns="0" tIns="0" bIns="0">
            <a:spAutoFit/>
          </a:bodyPr>
          <a:lstStyle/>
          <a:p>
            <a:pPr algn="l">
              <a:lnSpc>
                <a:spcPct val="114000"/>
              </a:lnSpc>
              <a:spcBef>
                <a:spcPts val="0"/>
              </a:spcBef>
              <a:spcAft>
                <a:spcPts val="500"/>
              </a:spcAft>
            </a:pPr>
            <a:r>
              <a:rPr sz="1300" b="1">
                <a:solidFill>
                  <a:srgbClr val="1D4E44"/>
                </a:solidFill>
                <a:latin typeface="Segoe UI Semibold"/>
              </a:rPr>
              <a:t>Goal 2 and Goal 3</a:t>
            </a:r>
          </a:p>
        </p:txBody>
      </p:sp>
      <p:sp>
        <p:nvSpPr>
          <p:cNvPr id="16" name="TextBox 15"/>
          <p:cNvSpPr txBox="1"/>
          <p:nvPr/>
        </p:nvSpPr>
        <p:spPr>
          <a:xfrm>
            <a:off x="932688" y="5029200"/>
            <a:ext cx="3081528" cy="960120"/>
          </a:xfrm>
          <a:prstGeom prst="rect">
            <a:avLst/>
          </a:prstGeom>
          <a:noFill/>
        </p:spPr>
        <p:txBody>
          <a:bodyPr wrap="square" anchor="t" lIns="0" rIns="0" tIns="0" bIns="0">
            <a:spAutoFit/>
          </a:bodyPr>
          <a:lstStyle/>
          <a:p>
            <a:pPr algn="l">
              <a:lnSpc>
                <a:spcPct val="116000"/>
              </a:lnSpc>
              <a:spcBef>
                <a:spcPts val="0"/>
              </a:spcBef>
              <a:spcAft>
                <a:spcPts val="600"/>
              </a:spcAft>
            </a:pPr>
            <a:r>
              <a:rPr sz="1150" b="1">
                <a:solidFill>
                  <a:srgbClr val="466473"/>
                </a:solidFill>
                <a:latin typeface="Segoe UI Semibold"/>
              </a:rPr>
              <a:t>›  </a:t>
            </a:r>
            <a:r>
              <a:rPr sz="1130" b="0">
                <a:solidFill>
                  <a:srgbClr val="1B2A26"/>
                </a:solidFill>
                <a:latin typeface="Segoe UI"/>
              </a:rPr>
              <a:t>Yield protected by catching disease early instead of after a field is lost.</a:t>
            </a:r>
          </a:p>
          <a:p>
            <a:pPr algn="l">
              <a:lnSpc>
                <a:spcPct val="116000"/>
              </a:lnSpc>
              <a:spcBef>
                <a:spcPts val="0"/>
              </a:spcBef>
              <a:spcAft>
                <a:spcPts val="600"/>
              </a:spcAft>
            </a:pPr>
            <a:r>
              <a:rPr sz="1150" b="1">
                <a:solidFill>
                  <a:srgbClr val="466473"/>
                </a:solidFill>
                <a:latin typeface="Segoe UI Semibold"/>
              </a:rPr>
              <a:t>›  </a:t>
            </a:r>
            <a:r>
              <a:rPr sz="1130" b="0">
                <a:solidFill>
                  <a:srgbClr val="1B2A26"/>
                </a:solidFill>
                <a:latin typeface="Segoe UI"/>
              </a:rPr>
              <a:t>Chemical exposure reduced by blocking banned actives and verifying every dose before it reaches the farmer.</a:t>
            </a:r>
          </a:p>
        </p:txBody>
      </p:sp>
      <p:sp>
        <p:nvSpPr>
          <p:cNvPr id="17" name="Rectangle 16"/>
          <p:cNvSpPr/>
          <p:nvPr/>
        </p:nvSpPr>
        <p:spPr>
          <a:xfrm>
            <a:off x="4398264" y="4590288"/>
            <a:ext cx="3502152" cy="1481328"/>
          </a:xfrm>
          <a:prstGeom prst="rect">
            <a:avLst/>
          </a:prstGeom>
          <a:solidFill>
            <a:srgbClr val="F0F4F2"/>
          </a:solidFill>
          <a:ln w="11430">
            <a:solidFill>
              <a:srgbClr val="D6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4590288"/>
            <a:ext cx="38100" cy="1481328"/>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20" y="4718304"/>
            <a:ext cx="3081528" cy="274320"/>
          </a:xfrm>
          <a:prstGeom prst="rect">
            <a:avLst/>
          </a:prstGeom>
          <a:noFill/>
        </p:spPr>
        <p:txBody>
          <a:bodyPr wrap="square" anchor="t" lIns="0" rIns="0" tIns="0" bIns="0">
            <a:spAutoFit/>
          </a:bodyPr>
          <a:lstStyle/>
          <a:p>
            <a:pPr algn="l">
              <a:lnSpc>
                <a:spcPct val="114000"/>
              </a:lnSpc>
              <a:spcBef>
                <a:spcPts val="0"/>
              </a:spcBef>
              <a:spcAft>
                <a:spcPts val="500"/>
              </a:spcAft>
            </a:pPr>
            <a:r>
              <a:rPr sz="1300" b="1">
                <a:solidFill>
                  <a:srgbClr val="1D4E44"/>
                </a:solidFill>
                <a:latin typeface="Segoe UI Semibold"/>
              </a:rPr>
              <a:t>Goal 9 and Goal 10</a:t>
            </a:r>
          </a:p>
        </p:txBody>
      </p:sp>
      <p:sp>
        <p:nvSpPr>
          <p:cNvPr id="20" name="TextBox 19"/>
          <p:cNvSpPr txBox="1"/>
          <p:nvPr/>
        </p:nvSpPr>
        <p:spPr>
          <a:xfrm>
            <a:off x="4617720" y="5029200"/>
            <a:ext cx="3081528" cy="960120"/>
          </a:xfrm>
          <a:prstGeom prst="rect">
            <a:avLst/>
          </a:prstGeom>
          <a:noFill/>
        </p:spPr>
        <p:txBody>
          <a:bodyPr wrap="square" anchor="t" lIns="0" rIns="0" tIns="0" bIns="0">
            <a:spAutoFit/>
          </a:bodyPr>
          <a:lstStyle/>
          <a:p>
            <a:pPr algn="l">
              <a:lnSpc>
                <a:spcPct val="116000"/>
              </a:lnSpc>
              <a:spcBef>
                <a:spcPts val="0"/>
              </a:spcBef>
              <a:spcAft>
                <a:spcPts val="600"/>
              </a:spcAft>
            </a:pPr>
            <a:r>
              <a:rPr sz="1150" b="1">
                <a:solidFill>
                  <a:srgbClr val="466473"/>
                </a:solidFill>
                <a:latin typeface="Segoe UI Semibold"/>
              </a:rPr>
              <a:t>›  </a:t>
            </a:r>
            <a:r>
              <a:rPr sz="1130" b="0">
                <a:solidFill>
                  <a:srgbClr val="1B2A26"/>
                </a:solidFill>
                <a:latin typeface="Segoe UI"/>
              </a:rPr>
              <a:t>Resilient agri infrastructure built on curated national knowledge and a locally served model rather than rented capacity.</a:t>
            </a:r>
          </a:p>
          <a:p>
            <a:pPr algn="l">
              <a:lnSpc>
                <a:spcPct val="116000"/>
              </a:lnSpc>
              <a:spcBef>
                <a:spcPts val="0"/>
              </a:spcBef>
              <a:spcAft>
                <a:spcPts val="600"/>
              </a:spcAft>
            </a:pPr>
            <a:r>
              <a:rPr sz="1150" b="1">
                <a:solidFill>
                  <a:srgbClr val="466473"/>
                </a:solidFill>
                <a:latin typeface="Segoe UI Semibold"/>
              </a:rPr>
              <a:t>›  </a:t>
            </a:r>
            <a:r>
              <a:rPr sz="1130" b="0">
                <a:solidFill>
                  <a:srgbClr val="1B2A26"/>
                </a:solidFill>
                <a:latin typeface="Segoe UI"/>
              </a:rPr>
              <a:t>Advisory delivered in Bengali, Banglish, and voice, so access does not depend on literacy or income.</a:t>
            </a:r>
          </a:p>
        </p:txBody>
      </p:sp>
      <p:sp>
        <p:nvSpPr>
          <p:cNvPr id="21" name="Rectangle 20"/>
          <p:cNvSpPr/>
          <p:nvPr/>
        </p:nvSpPr>
        <p:spPr>
          <a:xfrm>
            <a:off x="8083296" y="4590288"/>
            <a:ext cx="3502152" cy="1481328"/>
          </a:xfrm>
          <a:prstGeom prst="rect">
            <a:avLst/>
          </a:prstGeom>
          <a:solidFill>
            <a:srgbClr val="F0F4F2"/>
          </a:solidFill>
          <a:ln w="11430">
            <a:solidFill>
              <a:srgbClr val="D6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3296" y="4590288"/>
            <a:ext cx="38100" cy="1481328"/>
          </a:xfrm>
          <a:prstGeom prst="rect">
            <a:avLst/>
          </a:prstGeom>
          <a:solidFill>
            <a:srgbClr val="2E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02752" y="4718304"/>
            <a:ext cx="3081528" cy="274320"/>
          </a:xfrm>
          <a:prstGeom prst="rect">
            <a:avLst/>
          </a:prstGeom>
          <a:noFill/>
        </p:spPr>
        <p:txBody>
          <a:bodyPr wrap="square" anchor="t" lIns="0" rIns="0" tIns="0" bIns="0">
            <a:spAutoFit/>
          </a:bodyPr>
          <a:lstStyle/>
          <a:p>
            <a:pPr algn="l">
              <a:lnSpc>
                <a:spcPct val="114000"/>
              </a:lnSpc>
              <a:spcBef>
                <a:spcPts val="0"/>
              </a:spcBef>
              <a:spcAft>
                <a:spcPts val="500"/>
              </a:spcAft>
            </a:pPr>
            <a:r>
              <a:rPr sz="1300" b="1">
                <a:solidFill>
                  <a:srgbClr val="1D4E44"/>
                </a:solidFill>
                <a:latin typeface="Segoe UI Semibold"/>
              </a:rPr>
              <a:t>Goal 17</a:t>
            </a:r>
          </a:p>
        </p:txBody>
      </p:sp>
      <p:sp>
        <p:nvSpPr>
          <p:cNvPr id="24" name="TextBox 23"/>
          <p:cNvSpPr txBox="1"/>
          <p:nvPr/>
        </p:nvSpPr>
        <p:spPr>
          <a:xfrm>
            <a:off x="8302752" y="5029200"/>
            <a:ext cx="3081528" cy="960120"/>
          </a:xfrm>
          <a:prstGeom prst="rect">
            <a:avLst/>
          </a:prstGeom>
          <a:noFill/>
        </p:spPr>
        <p:txBody>
          <a:bodyPr wrap="square" anchor="t" lIns="0" rIns="0" tIns="0" bIns="0">
            <a:spAutoFit/>
          </a:bodyPr>
          <a:lstStyle/>
          <a:p>
            <a:pPr algn="l">
              <a:lnSpc>
                <a:spcPct val="116000"/>
              </a:lnSpc>
              <a:spcBef>
                <a:spcPts val="0"/>
              </a:spcBef>
              <a:spcAft>
                <a:spcPts val="600"/>
              </a:spcAft>
            </a:pPr>
            <a:r>
              <a:rPr sz="1150" b="1">
                <a:solidFill>
                  <a:srgbClr val="466473"/>
                </a:solidFill>
                <a:latin typeface="Segoe UI Semibold"/>
              </a:rPr>
              <a:t>›  </a:t>
            </a:r>
            <a:r>
              <a:rPr sz="1130" b="0">
                <a:solidFill>
                  <a:srgbClr val="1B2A26"/>
                </a:solidFill>
                <a:latin typeface="Segoe UI"/>
              </a:rPr>
              <a:t>Designed to escalate into the national Krishi Call Center on 16123 rather than compete with it.</a:t>
            </a:r>
          </a:p>
          <a:p>
            <a:pPr algn="l">
              <a:lnSpc>
                <a:spcPct val="116000"/>
              </a:lnSpc>
              <a:spcBef>
                <a:spcPts val="0"/>
              </a:spcBef>
              <a:spcAft>
                <a:spcPts val="600"/>
              </a:spcAft>
            </a:pPr>
            <a:r>
              <a:rPr sz="1150" b="1">
                <a:solidFill>
                  <a:srgbClr val="466473"/>
                </a:solidFill>
                <a:latin typeface="Segoe UI Semibold"/>
              </a:rPr>
              <a:t>›  </a:t>
            </a:r>
            <a:r>
              <a:rPr sz="1130" b="0">
                <a:solidFill>
                  <a:srgbClr val="1B2A26"/>
                </a:solidFill>
                <a:latin typeface="Segoe UI"/>
              </a:rPr>
              <a:t>Dataset, benchmarks, and architecture published openly so government, research, and industry can build on the same base.</a:t>
            </a:r>
          </a:p>
        </p:txBody>
      </p:sp>
      <p:sp>
        <p:nvSpPr>
          <p:cNvPr id="25" name="TextBox 24"/>
          <p:cNvSpPr txBox="1"/>
          <p:nvPr/>
        </p:nvSpPr>
        <p:spPr>
          <a:xfrm>
            <a:off x="685800" y="6236208"/>
            <a:ext cx="10835640" cy="310896"/>
          </a:xfrm>
          <a:prstGeom prst="rect">
            <a:avLst/>
          </a:prstGeom>
          <a:noFill/>
        </p:spPr>
        <p:txBody>
          <a:bodyPr wrap="square" anchor="t" lIns="0" rIns="0" tIns="0" bIns="0">
            <a:spAutoFit/>
          </a:bodyPr>
          <a:lstStyle/>
          <a:p>
            <a:pPr algn="l">
              <a:lnSpc>
                <a:spcPct val="114000"/>
              </a:lnSpc>
              <a:spcBef>
                <a:spcPts val="0"/>
              </a:spcBef>
              <a:spcAft>
                <a:spcPts val="500"/>
              </a:spcAft>
            </a:pPr>
            <a:r>
              <a:rPr sz="1150" b="0">
                <a:solidFill>
                  <a:srgbClr val="6B736E"/>
                </a:solidFill>
                <a:latin typeface="Segoe UI"/>
              </a:rPr>
              <a:t>Each claim above maps to a mechanism already in the system rather than an intention, which is the difference between contributing to these goals and citing them.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