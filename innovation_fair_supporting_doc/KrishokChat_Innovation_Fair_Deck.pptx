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D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rgbClr val="F0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466473"/>
                </a:solidFill>
                <a:latin typeface="Segoe UI Semibold"/>
              </a:rPr>
              <a:t>AGRICULTURAL ADVISORY SYSTEM FOR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600" b="1">
                <a:solidFill>
                  <a:srgbClr val="1D4E44"/>
                </a:solidFill>
                <a:latin typeface="Segoe UI Semibold"/>
              </a:rPr>
              <a:t>KrishokChat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2542032"/>
            <a:ext cx="1737360" cy="25400"/>
          </a:xfrm>
          <a:prstGeom prst="rect">
            <a:avLst/>
          </a:prstGeom>
          <a:solidFill>
            <a:srgbClr val="1D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788920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1B2A26"/>
                </a:solidFill>
                <a:latin typeface="Segoe UI Light"/>
              </a:rPr>
              <a:t>A Bengali-first crop advisory that answers from Bangladeshi government sources, verifies every chemical dose before it reaches a farmer, and runs on the phone already in his pocket.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4544568"/>
            <a:ext cx="38100" cy="18288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434840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D4E44"/>
                </a:solidFill>
                <a:latin typeface="Segoe UI Semibold"/>
              </a:rPr>
              <a:t>Working 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5020056"/>
            <a:ext cx="38100" cy="18288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910328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D4E44"/>
                </a:solidFill>
                <a:latin typeface="Segoe UI Semibold"/>
              </a:rPr>
              <a:t>Tested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5495544"/>
            <a:ext cx="38100" cy="182880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38581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D4E44"/>
                </a:solidFill>
                <a:latin typeface="Segoe UI Semibold"/>
              </a:rPr>
              <a:t>Offline capable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0533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736E"/>
                </a:solidFill>
                <a:latin typeface="Segoe UI"/>
              </a:rPr>
              <a:t>Application track supporting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3716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THE SITUATION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783080"/>
            <a:ext cx="4069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B2A26"/>
                </a:solidFill>
                <a:latin typeface="Segoe UI"/>
              </a:rPr>
              <a:t>A farmer finds dark spots spreading on his brinjal leaves a week before harvest. He needs to know what it is, what to spray, how much, and whether it is safe.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0">
                <a:solidFill>
                  <a:srgbClr val="1B2A26"/>
                </a:solidFill>
                <a:latin typeface="Segoe UI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1B2A26"/>
                </a:solidFill>
                <a:latin typeface="Segoe UI"/>
              </a:rPr>
              <a:t>His options today are a dealer who profits from the sale, a Facebook group where strangers guess, or a general chatbot that never learned Bangladeshi crops or official guidance.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700" b="0">
                <a:solidFill>
                  <a:srgbClr val="1B2A26"/>
                </a:solidFill>
                <a:latin typeface="Segoe UI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D4E44"/>
                </a:solidFill>
                <a:latin typeface="Segoe UI"/>
              </a:rPr>
              <a:t>For a smallholder, a confidently wrong answer is a lost crop or an unsafe chemical sprayed on food and water.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0648" y="5257800"/>
            <a:ext cx="3977639" cy="1270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5440680"/>
            <a:ext cx="4069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About 16 million farm households make these decisions with no expert in reach.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D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THE GAP, AND WHAT IS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972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1D4E44"/>
                </a:solidFill>
                <a:latin typeface="Segoe UI Semibold"/>
              </a:rPr>
              <a:t>Not a chat wrapper, an advisory that can be checked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298448"/>
            <a:ext cx="10835640" cy="1397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D4E44"/>
                </a:solidFill>
                <a:latin typeface="Segoe UI Semibold"/>
              </a:rPr>
              <a:t>KrishokChat</a:t>
            </a:r>
            <a:r>
              <a:rPr sz="1000" b="0">
                <a:solidFill>
                  <a:srgbClr val="6B736E"/>
                </a:solidFill>
                <a:latin typeface="Segoe UI"/>
              </a:rPr>
              <a:t>    Innovation Fair Bangladesh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B736E"/>
                </a:solidFill>
                <a:latin typeface="Segoe UI"/>
              </a:rPr>
              <a:t>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275" y="1563243"/>
            <a:ext cx="6259830" cy="4179570"/>
          </a:xfrm>
          <a:prstGeom prst="rect">
            <a:avLst/>
          </a:prstGeom>
          <a:noFill/>
          <a:ln w="9525">
            <a:solidFill>
              <a:srgbClr val="D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blem_vs_solu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624078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WHAT MAKES IT ORIGINAL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20824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196596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D4E44"/>
                </a:solidFill>
                <a:latin typeface="Segoe UI Semibold"/>
              </a:rPr>
              <a:t>Answers are composed, not improvised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67712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Common high risk questions such as a registered dose resolve from a structured, source cited knowledge base. The same question returns the same cited answer every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319272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3264408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D4E44"/>
                </a:solidFill>
                <a:latin typeface="Segoe UI Semibold"/>
              </a:rPr>
              <a:t>Dialect and intent are handled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566160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Farmers write in dialect and Banglish. The system reads intent, turns it into a structured request, and answers what was actually asked.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617720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4562856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1D4E44"/>
                </a:solidFill>
                <a:latin typeface="Segoe UI Semibold"/>
              </a:rPr>
              <a:t>The language model has bounded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864608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It phrases and disambiguates. It is not trusted to invent a dose, and it is bypassed entirely when a cited table can answer.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870448"/>
            <a:ext cx="4114800" cy="1270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36E"/>
                </a:solidFill>
                <a:latin typeface="Segoe UI"/>
              </a:rPr>
              <a:t>Advice arrives in Bengali or Banglish, by text, voice, or a photo of the leaf.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D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TECHNICAL CAPABILITY AND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972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1D4E44"/>
                </a:solidFill>
                <a:latin typeface="Segoe UI Semibold"/>
              </a:rPr>
              <a:t>The system runs today,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298448"/>
            <a:ext cx="10835640" cy="1397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D4E44"/>
                </a:solidFill>
                <a:latin typeface="Segoe UI Semibold"/>
              </a:rPr>
              <a:t>KrishokChat</a:t>
            </a:r>
            <a:r>
              <a:rPr sz="1000" b="0">
                <a:solidFill>
                  <a:srgbClr val="6B736E"/>
                </a:solidFill>
                <a:latin typeface="Segoe UI"/>
              </a:rPr>
              <a:t>    Innovation Fair Bangladesh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B736E"/>
                </a:solidFill>
                <a:latin typeface="Segoe UI"/>
              </a:rPr>
              <a:t>3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275" y="1563243"/>
            <a:ext cx="6922770" cy="3904457"/>
          </a:xfrm>
          <a:prstGeom prst="rect">
            <a:avLst/>
          </a:prstGeom>
          <a:noFill/>
          <a:ln w="9525">
            <a:solidFill>
              <a:srgbClr val="D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6903720" cy="38854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1572768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WHAT ALREADY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938528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Photo to grounded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94560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2A26"/>
                </a:solidFill>
                <a:latin typeface="Segoe UI"/>
              </a:rPr>
              <a:t>A crop photo is recognised, routed to a crop specific disease model, then matched to treatment guidance from government manuals in one screen.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962656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Retrieval over curated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218688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2A26"/>
                </a:solidFill>
                <a:latin typeface="Segoe UI"/>
              </a:rPr>
              <a:t>BM25 over 2,135 source traced knowledge nodes, with hybrid dense retrieval available, so every answer traces to a real passage.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986784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Served locally, not rented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242816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2A26"/>
                </a:solidFill>
                <a:latin typeface="Segoe UI"/>
              </a:rPr>
              <a:t>A quantised Gemma model runs through llama.cpp, so the core assistant does not depend on a paid frontier API to function.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01091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Beyond the chat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266944"/>
            <a:ext cx="3611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B2A26"/>
                </a:solidFill>
                <a:latin typeface="Segoe UI"/>
              </a:rPr>
              <a:t>Soil and irrigation image analysis, sensor based insect prediction, and a drone field view feed the same assistant.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742432"/>
            <a:ext cx="10835640" cy="1270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897880"/>
            <a:ext cx="2029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D4E44"/>
                </a:solidFill>
                <a:latin typeface="Segoe UI Semibold"/>
              </a:rPr>
              <a:t>410 /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45352"/>
            <a:ext cx="2029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B736E"/>
                </a:solidFill>
                <a:latin typeface="Segoe UI"/>
              </a:rPr>
              <a:t>automated tests passing and failing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5934456"/>
            <a:ext cx="11430" cy="64008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5897880"/>
            <a:ext cx="2029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D4E44"/>
                </a:solidFill>
                <a:latin typeface="Segoe UI Semibold"/>
              </a:rPr>
              <a:t>50 /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6245352"/>
            <a:ext cx="2029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B736E"/>
                </a:solidFill>
                <a:latin typeface="Segoe UI"/>
              </a:rPr>
              <a:t>fixed scenarios reproduced exactly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0328" y="5934456"/>
            <a:ext cx="11430" cy="64008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5897880"/>
            <a:ext cx="2029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D4E44"/>
                </a:solidFill>
                <a:latin typeface="Segoe UI Semibold"/>
              </a:rPr>
              <a:t>2,135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0056" y="6245352"/>
            <a:ext cx="2029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B736E"/>
                </a:solidFill>
                <a:latin typeface="Segoe UI"/>
              </a:rPr>
              <a:t>source traced knowledge nodes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77456" y="5934456"/>
            <a:ext cx="11430" cy="64008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7184" y="5897880"/>
            <a:ext cx="2029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D4E44"/>
                </a:solidFill>
                <a:latin typeface="Segoe UI Semibold"/>
              </a:rPr>
              <a:t>20,112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6245352"/>
            <a:ext cx="2029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B736E"/>
                </a:solidFill>
                <a:latin typeface="Segoe UI"/>
              </a:rPr>
              <a:t>safety records across 12 risk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44584" y="5934456"/>
            <a:ext cx="11430" cy="64008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54312" y="5897880"/>
            <a:ext cx="2029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D4E44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6245352"/>
            <a:ext cx="2029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6B736E"/>
                </a:solidFill>
                <a:latin typeface="Segoe UI"/>
              </a:rPr>
              <a:t>Bengali dialects on a 110 word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D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ETHICS AND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972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1D4E44"/>
                </a:solidFill>
                <a:latin typeface="Segoe UI Semibold"/>
              </a:rPr>
              <a:t>Refusing well is a feature, not a limitation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298448"/>
            <a:ext cx="10835640" cy="1397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D4E44"/>
                </a:solidFill>
                <a:latin typeface="Segoe UI Semibold"/>
              </a:rPr>
              <a:t>KrishokChat</a:t>
            </a:r>
            <a:r>
              <a:rPr sz="1000" b="0">
                <a:solidFill>
                  <a:srgbClr val="6B736E"/>
                </a:solidFill>
                <a:latin typeface="Segoe UI"/>
              </a:rPr>
              <a:t>    Innovation Fair Bangladesh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B736E"/>
                </a:solidFill>
                <a:latin typeface="Segoe UI"/>
              </a:rPr>
              <a:t>4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275" y="1563243"/>
            <a:ext cx="6328410" cy="4225290"/>
          </a:xfrm>
          <a:prstGeom prst="rect">
            <a:avLst/>
          </a:prstGeom>
          <a:noFill/>
          <a:ln w="9525">
            <a:solidFill>
              <a:srgbClr val="D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afety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2768"/>
            <a:ext cx="63093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06640" y="157276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WHY IT IS SAFE TO 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984248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1938528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D4E44"/>
                </a:solidFill>
                <a:latin typeface="Segoe UI Semibold"/>
              </a:rPr>
              <a:t>Safety runs before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12848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Unsafe and banned chemical requests are caught against a Bangladesh specific registry before any answer is formed.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044952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2999232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D4E44"/>
                </a:solidFill>
                <a:latin typeface="Segoe UI Semibold"/>
              </a:rPr>
              <a:t>Every dose is checked against its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273552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Numeric claims are normalised across Bengali and English numerals, then verified against the retrieved passage before release.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105656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4059936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D4E44"/>
                </a:solidFill>
                <a:latin typeface="Segoe UI Semibold"/>
              </a:rPr>
              <a:t>Honest refusal with a real destination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4334256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Outside coverage, the system says so and redirects to the national Krishi Call Center on 16123 rather than guessing.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166360"/>
            <a:ext cx="38100" cy="201168"/>
          </a:xfrm>
          <a:prstGeom prst="rect">
            <a:avLst/>
          </a:prstGeom>
          <a:solidFill>
            <a:srgbClr val="2E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5120640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D4E44"/>
                </a:solidFill>
                <a:latin typeface="Segoe UI Semibold"/>
              </a:rPr>
              <a:t>Auditable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5394960"/>
            <a:ext cx="3886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A26"/>
                </a:solidFill>
                <a:latin typeface="Segoe UI"/>
              </a:rPr>
              <a:t>Every request, classification, and verification result is written to a local audit record, so safety behaviour is measured rather than assumed.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5870448"/>
            <a:ext cx="4114800" cy="1270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60167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B736E"/>
                </a:solidFill>
                <a:latin typeface="Segoe UI"/>
              </a:rPr>
              <a:t>Safer chemical use protects the farmer applying it, the family eating the crop, and the water downstream.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D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23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MARKET, INCLUSION AND DEVELOPMENT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76656"/>
            <a:ext cx="109728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700" b="1">
                <a:solidFill>
                  <a:srgbClr val="1D4E44"/>
                </a:solidFill>
                <a:latin typeface="Segoe UI Semibold"/>
              </a:rPr>
              <a:t>A route to scale that does not price out the farmer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298448"/>
            <a:ext cx="10835640" cy="1397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D4E44"/>
                </a:solidFill>
                <a:latin typeface="Segoe UI Semibold"/>
              </a:rPr>
              <a:t>KrishokChat</a:t>
            </a:r>
            <a:r>
              <a:rPr sz="1000" b="0">
                <a:solidFill>
                  <a:srgbClr val="6B736E"/>
                </a:solidFill>
                <a:latin typeface="Segoe UI"/>
              </a:rPr>
              <a:t>    Innovation Fair Bangladesh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6B736E"/>
                </a:solidFill>
                <a:latin typeface="Segoe UI"/>
              </a:rPr>
              <a:t>5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275" y="1544955"/>
            <a:ext cx="5962650" cy="3364102"/>
          </a:xfrm>
          <a:prstGeom prst="rect">
            <a:avLst/>
          </a:prstGeom>
          <a:noFill/>
          <a:ln w="9525">
            <a:solidFill>
              <a:srgbClr val="D6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rket 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5943600" cy="33450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1554480"/>
            <a:ext cx="4617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66473"/>
                </a:solidFill>
                <a:latin typeface="Segoe UI Semibold"/>
              </a:rPr>
              <a:t>DEMAND, INCLUSION AND 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Demand is already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167128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B2A26"/>
                </a:solidFill>
                <a:latin typeface="Segoe UI"/>
              </a:rPr>
              <a:t>The national helpline absorbs about 92,094 calls a year, which is farmers actively seeking advice they cannot otherwise 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97180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Inclusion is built into the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218688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B2A26"/>
                </a:solidFill>
                <a:latin typeface="Segoe UI"/>
              </a:rPr>
              <a:t>Voice and Banglish input serve farmers with limited literacy, women managing homestead plots, and young farmers entering the sector, all without a paywall.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02336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D4E44"/>
                </a:solidFill>
                <a:latin typeface="Segoe UI Semibold"/>
              </a:rPr>
              <a:t>Led with research and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270248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B2A26"/>
                </a:solidFill>
                <a:latin typeface="Segoe UI"/>
              </a:rPr>
              <a:t>Three research papers document the dataset, the safety critical advisory design, and the provenance traceable retrieval architecture, with the engineering held to a fixed regression baseline.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074920"/>
            <a:ext cx="10835640" cy="12700"/>
          </a:xfrm>
          <a:prstGeom prst="rect">
            <a:avLst/>
          </a:prstGeom>
          <a:solidFill>
            <a:srgbClr val="D6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30368"/>
            <a:ext cx="2079662" cy="1170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